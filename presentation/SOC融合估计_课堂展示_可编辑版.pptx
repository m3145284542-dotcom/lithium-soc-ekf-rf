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重要性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6EDF5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电流</c:v>
                  </c:pt>
                  <c:pt idx="1">
                    <c:v>近5秒电压变化</c:v>
                  </c:pt>
                  <c:pt idx="2">
                    <c:v>端电压</c:v>
                  </c:pt>
                  <c:pt idx="3">
                    <c:v>近5秒平均电流</c:v>
                  </c:pt>
                  <c:pt idx="4">
                    <c:v>电压预测偏差</c:v>
                  </c:pt>
                  <c:pt idx="5">
                    <c:v>表面温度</c:v>
                  </c:pt>
                  <c:pt idx="6">
                    <c:v>EKF 估计值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0.19968423523037096</c:v>
                </c:pt>
                <c:pt idx="1">
                  <c:v>0.7080183215924326</c:v>
                </c:pt>
                <c:pt idx="2">
                  <c:v>1.5281803111524332</c:v>
                </c:pt>
                <c:pt idx="3">
                  <c:v>1.6254703697291257</c:v>
                </c:pt>
                <c:pt idx="4">
                  <c:v>1.7177198050132598</c:v>
                </c:pt>
                <c:pt idx="5">
                  <c:v>45.92235500139344</c:v>
                </c:pt>
                <c:pt idx="6">
                  <c:v>48.29857195588894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E6EDF5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93A4B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DF5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4B8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263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EKF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6EDF5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Mixed7</c:v>
                  </c:pt>
                  <c:pt idx="1">
                    <c:v>Mixed8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2.231481969500281</c:v>
                </c:pt>
                <c:pt idx="1">
                  <c:v>2.0010101015388617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EKF + 随机森林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6EDF5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Mixed7</c:v>
                  </c:pt>
                  <c:pt idx="1">
                    <c:v>Mixed8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1.0660393354989224</c:v>
                </c:pt>
                <c:pt idx="1">
                  <c:v>0.885770010519987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E6EDF5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3A4B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DF5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9525" cap="flat">
              <a:solidFill>
                <a:srgbClr val="2440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4B8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12263A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E6EDF5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EKF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E6EDF5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正常</c:v>
                  </c:pt>
                  <c:pt idx="1">
                    <c:v>起点估低10%</c:v>
                  </c:pt>
                  <c:pt idx="2">
                    <c:v>测量加噪声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2.1162460355195716</c:v>
                </c:pt>
                <c:pt idx="1">
                  <c:v>2.1382495509994515</c:v>
                </c:pt>
                <c:pt idx="2">
                  <c:v>2.1114264441676793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加固定修正值</c:v>
                </c:pt>
              </c:strCache>
            </c:strRef>
          </c:tx>
          <c:spPr>
            <a:solidFill>
              <a:srgbClr val="7C8DA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E6EDF5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正常</c:v>
                  </c:pt>
                  <c:pt idx="1">
                    <c:v>起点估低10%</c:v>
                  </c:pt>
                  <c:pt idx="2">
                    <c:v>测量加噪声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1.1898201733264255</c:v>
                </c:pt>
                <c:pt idx="1">
                  <c:v>1.2048733840036197</c:v>
                </c:pt>
                <c:pt idx="2">
                  <c:v>1.1819072766088115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EKF + 随机森林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E6EDF5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正常</c:v>
                  </c:pt>
                  <c:pt idx="1">
                    <c:v>起点估低10%</c:v>
                  </c:pt>
                  <c:pt idx="2">
                    <c:v>测量加噪声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0.9759046730094547</c:v>
                </c:pt>
                <c:pt idx="1">
                  <c:v>0.9897261498761724</c:v>
                </c:pt>
                <c:pt idx="2">
                  <c:v>0.9616023808082186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100" u="none">
                  <a:solidFill>
                    <a:srgbClr val="E6EDF5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3A4B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DF5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9525" cap="flat">
              <a:solidFill>
                <a:srgbClr val="2440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4B8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12263A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E6EDF5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建议用时：25秒
大家好，我们的题目是锂电池SOC融合估计。说白了，就是想准确知道一块电池还剩多少电。我们的办法分两步：先用电池的物理模型估算，再让机器学习帮它纠正误差。在测试中，平均估计误差降低了一半以上。接下来我按问题、数据、算法、结论和意义五部分来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建议用时：45秒
SOC就是剩余电量的百分比，和手机上显示的电量是一个意思。但电池里没有一个“电量表”能直接测出它，只能靠电压、电流和温度去推算。这里有两个难点。第一，看电压不准：用电一快电压就往下掉，一松开又回升，大家看右边这张实测图，电流一直在跳，电压也跟着跳，可真实电量是平稳下降的。第二，靠“记账”会越记越偏：安时积分就是把流出去的电流一笔笔记下来，可起点只要记错一点，或者电流表有一点偏差，误差就会越积越大。所以我们的办法是：先用物理模型估算，再用机器学习把剩下的误差纠正过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建议用时：40秒
数据来自一个公开的锂电池实测数据集，是LG的18650电池，在25摄氏度下测的。不同的测试各有用处：容量测试告诉我们电池总共能装2.72639安时的电，慢放电得到电压和电量的对照曲线，脉冲测试用来测内阻，8条模拟真实使用的动态工况拿来训练和考试。我们把这8条像分考题一样分组：4条用来学习，2条用来挑方案，最后2条留到期末考试，绝不提前看。用来打分的“标准答案”，是从满电开始累计放电量算出来的，它本身也有一点误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建议用时：45秒
第一步，我们把电池看成一个简单电路，叫一阶RC模型。它记两件事：一是电量，用掉多少电就减多少；二是“极化电压”，可以理解为电池用力之后的喘气，会慢慢恢复。电压等于开路电压减去内阻和极化造成的损失。EKF就像手机导航，先按模型推算下一步，再拿实测电压对一对，差多少就修正多少，每个采样都重复一次。模型里的内阻等参数是从42个脉冲测试求出来的。不过模型没考虑温度变化，所以还会留下一些误差，这就交给下一步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建议用时：55秒
第二步用随机森林。它不替代上一步的模型，而是专门学“EKF通常会估错多少”。做法是：把电压、电流、温度、EKF的估计，以及过去5秒的变化，一共7个信息交给随机森林，它算出一个修正量，加到EKF的结果上。随机森林可以理解为120棵决策树一起投票。为了不作弊，它只用4条数据学习，用2条挑方案，定下来以后才去考那2条测试数据，而且从来不给它看标准答案和未来的数据。左边能看到，它最看重的是EKF的估计和电池温度；温度占比高，可能是因为放电过程中电池在升温，所以换个温度还管不管用，还需要另外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建议用时：45秒
这是期末考试的成绩，也就是两条从没参与训练的测试记录。左图里，青色的修正结果比紫色的EKF更贴近标准答案。右边柱子越矮越好，两条记录的误差都降到了原来的一半左右。这里的误差用RMSE衡量，可以理解为估计值平均偏离真实电量几个百分点：平均从2.116降到0.976，降低了53.89%。不过个别时刻还是会差到大约3.6个百分点，并不是每个点都变好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建议用时：45秒
我们又换了两种难度来考：一种是故意把起点电量估低10%，一种是给电压和电流加上随机干扰，模型都不重新训练，误差照样降低了约54%。我们还想知道随机森林到底帮了多大忙，于是做了个简单对照：只给EKF加一个固定的修正值，误差就已经降低了43.8%，随机森林在这个基础上又多降了大约0.21个百分点。另外，干扰实验只做了一次，还需要多次重复才能下定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建议用时：35秒
总结三点。第一，修正后平均误差从2.116降到0.976，降低一半多，加了干扰也照样有效。第二，主要功劳是“去掉固定偏差”，大约81%的改善只靠加一个固定修正值就能做到，随机森林是在此之上锦上添花。第三，个别时刻仍有三到四个百分点的误差。需要说明的是，这些结论只在同一节电池、25摄氏度、两条测试记录上验证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建议用时：25秒
最后说说意义。SOC就是电池的“电量表”，电动车、手机、储能电站都要靠它显示电量、防止过充过放。方法上，我们让讲道理的物理模型和会总结经验的机器学习互相补充，还用简单对照如实检验了机器学习的真实作用。实践上，我们把从数据到测试的全流程跑通了，可以复现。以后还可以用更多电池和温度来检验。谢谢大家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24000"/>
            <a:ext cx="12192000" cy="0"/>
          </a:xfrm>
          <a:prstGeom prst="line">
            <a:avLst/>
          </a:prstGeom>
          <a:noFill/>
          <a:ln w="9525">
            <a:solidFill>
              <a:srgbClr val="24405A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048000"/>
            <a:ext cx="12192000" cy="0"/>
          </a:xfrm>
          <a:prstGeom prst="line">
            <a:avLst/>
          </a:prstGeom>
          <a:noFill/>
          <a:ln w="9525">
            <a:solidFill>
              <a:srgbClr val="24405A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9525">
            <a:solidFill>
              <a:srgbClr val="24405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096000"/>
            <a:ext cx="12192000" cy="0"/>
          </a:xfrm>
          <a:prstGeom prst="line">
            <a:avLst/>
          </a:prstGeom>
          <a:noFill/>
          <a:ln w="9525">
            <a:solidFill>
              <a:srgbClr val="24405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4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68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35000"/>
              </a:srgbClr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CHOR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24000"/>
            <a:ext cx="12192000" cy="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048000"/>
            <a:ext cx="12192000" cy="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810000"/>
            <a:ext cx="12192000" cy="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334000"/>
            <a:ext cx="12192000" cy="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096000"/>
            <a:ext cx="12192000" cy="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24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10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82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68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9525">
            <a:solidFill>
              <a:srgbClr val="24405A">
                <a:alpha val="40000"/>
              </a:srgbClr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953250" y="2571750"/>
            <a:ext cx="5715000" cy="38100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33400" y="800100"/>
            <a:ext cx="8572500" cy="1905000"/>
          </a:xfrm>
          <a:prstGeom prst="roundRect">
            <a:avLst>
              <a:gd name="adj" fmla="val 4800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电气大数据与人工智能 · 课程项目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锂电池 SOC 融合估计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A9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扩展卡尔曼滤波 + 随机森林误差补偿</a:t>
            </a:r>
            <a:endParaRPr lang="en-US" sz="145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2914650"/>
            <a:ext cx="8572500" cy="381000"/>
          </a:xfrm>
          <a:prstGeom prst="roundRect">
            <a:avLst>
              <a:gd name="adj" fmla="val 24000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研究问题：电池忽快忽慢地用电时，怎样准确知道还剩多少电？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33400" y="4191000"/>
            <a:ext cx="2381250" cy="647700"/>
          </a:xfrm>
          <a:prstGeom prst="homePlate">
            <a:avLst>
              <a:gd name="adj" fmla="val 14118"/>
            </a:avLst>
          </a:prstGeom>
          <a:solidFill>
            <a:srgbClr val="12263A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公开实测数据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762250" y="4191000"/>
            <a:ext cx="2381250" cy="647700"/>
          </a:xfrm>
          <a:prstGeom prst="chevron">
            <a:avLst>
              <a:gd name="adj" fmla="val 14118"/>
            </a:avLst>
          </a:prstGeom>
          <a:solidFill>
            <a:srgbClr val="12263A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物理模型估算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91100" y="4191000"/>
            <a:ext cx="2381250" cy="647700"/>
          </a:xfrm>
          <a:prstGeom prst="chevron">
            <a:avLst>
              <a:gd name="adj" fmla="val 14118"/>
            </a:avLst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1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机器学习纠偏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96100" y="3619500"/>
            <a:ext cx="4762500" cy="1524000"/>
          </a:xfrm>
          <a:prstGeom prst="roundRect">
            <a:avLst>
              <a:gd name="adj" fmla="val 6000"/>
            </a:avLst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A3E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−53.89%</a:t>
            </a:r>
            <a:endParaRPr lang="en-US" sz="14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测试中平均估计误差降低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533400" y="5905500"/>
            <a:ext cx="6667500" cy="323850"/>
          </a:xfrm>
          <a:prstGeom prst="roundRect">
            <a:avLst>
              <a:gd name="adj" fmla="val 28235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小组成员：（待填写）　　2026年10月29日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3810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SOC：电池还剩多少电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8382000" y="49530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1066800"/>
            <a:ext cx="7429500" cy="323850"/>
          </a:xfrm>
          <a:prstGeom prst="roundRect">
            <a:avLst>
              <a:gd name="adj" fmla="val 28235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 就是剩余电量百分比，没法直接测，只能用电压、电流、温度推算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33400" y="1524000"/>
            <a:ext cx="7086600" cy="1181100"/>
          </a:xfrm>
          <a:prstGeom prst="roundRect">
            <a:avLst>
              <a:gd name="adj" fmla="val 7742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难点一：看电压不准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电压会随用电快慢忽高忽低：猛加速时骤降，松开又回升，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所以不能直接把电压当成电量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33400" y="2838450"/>
            <a:ext cx="7086600" cy="1181100"/>
          </a:xfrm>
          <a:prstGeom prst="roundRect">
            <a:avLst>
              <a:gd name="adj" fmla="val 7742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难点二：“记账”会越记越偏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安时积分就是给流出的电流记账：起点记错一点，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或电流表有一点偏差，误差都会越积越大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33400" y="4152900"/>
            <a:ext cx="7086600" cy="1428750"/>
          </a:xfrm>
          <a:prstGeom prst="roundRect">
            <a:avLst>
              <a:gd name="adj" fmla="val 6400"/>
            </a:avLst>
          </a:prstGeom>
          <a:solidFill>
            <a:srgbClr val="0F3340"/>
          </a:solidFill>
          <a:ln w="19050">
            <a:solidFill>
              <a:srgbClr val="22D3EE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我们的办法：物理模型估算 + 机器学习纠偏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62000" y="4629150"/>
            <a:ext cx="3048000" cy="762000"/>
          </a:xfrm>
          <a:prstGeom prst="roundRect">
            <a:avLst>
              <a:gd name="adj" fmla="val 12000"/>
            </a:avLst>
          </a:prstGeom>
          <a:solidFill>
            <a:srgbClr val="12263A"/>
          </a:solidFill>
          <a:ln w="12700">
            <a:solidFill>
              <a:srgbClr val="22D3EE"/>
            </a:solidFill>
          </a:ln>
        </p:spPr>
        <p:txBody>
          <a:bodyPr wrap="square" lIns="203200" tIns="76200" rIns="203200" bIns="7620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一阶RC + EKF</a:t>
            </a: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按电池物理规律估算并实时校准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924300" y="4886325"/>
            <a:ext cx="342900" cy="247650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1" name="Text 8"/>
          <p:cNvSpPr/>
          <p:nvPr/>
        </p:nvSpPr>
        <p:spPr>
          <a:xfrm>
            <a:off x="4381500" y="4629150"/>
            <a:ext cx="3009900" cy="76200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/>
        </p:spPr>
        <p:txBody>
          <a:bodyPr wrap="square" lIns="203200" tIns="76200" rIns="203200" bIns="7620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1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</a:t>
            </a: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 EKF 常犯的错，再帮它改正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058150" y="1066800"/>
            <a:ext cx="3600450" cy="4476750"/>
          </a:xfrm>
          <a:prstGeom prst="roundRect">
            <a:avLst>
              <a:gd name="adj" fmla="val 2540"/>
            </a:avLst>
          </a:prstGeom>
          <a:solidFill>
            <a:srgbClr val="F4F7FA"/>
          </a:solidFill>
          <a:ln w="15875">
            <a:solidFill>
              <a:srgbClr val="22D3EE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1450" dirty="0"/>
          </a:p>
        </p:txBody>
      </p:sp>
      <p:pic>
        <p:nvPicPr>
          <p:cNvPr id="13" name="Image 0" descr="outputs/figures/Mixed1_inputs_refer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53400" y="1162050"/>
            <a:ext cx="3409950" cy="428625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058150" y="5657850"/>
            <a:ext cx="3600450" cy="323850"/>
          </a:xfrm>
          <a:prstGeom prst="roundRect">
            <a:avLst>
              <a:gd name="adj" fmla="val 28235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实测：电流一直在跳，电量却平稳下降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3810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数据来源与参考 SOC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8382000" y="49530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1028700"/>
            <a:ext cx="7429500" cy="285750"/>
          </a:xfrm>
          <a:prstGeom prst="roundRect">
            <a:avLst>
              <a:gd name="adj" fmla="val 32000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公开的锂电池实测数据：LG 18650HG2 单节电池，25℃ 环境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533400" y="1333500"/>
            <a:ext cx="7429500" cy="247650"/>
          </a:xfrm>
          <a:prstGeom prst="roundRect">
            <a:avLst>
              <a:gd name="adj" fmla="val 36923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Kollmeyer, Naguib, Skells · Mendeley Data v2 · DOI:10.17632/b5mj79w5w9.2 · CC BY 4.0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3400" y="1714500"/>
            <a:ext cx="819150" cy="514350"/>
          </a:xfrm>
          <a:prstGeom prst="roundRect">
            <a:avLst>
              <a:gd name="adj" fmla="val 17778"/>
            </a:avLst>
          </a:prstGeom>
          <a:solidFill>
            <a:srgbClr val="12263A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28750" y="1714500"/>
            <a:ext cx="819150" cy="514350"/>
          </a:xfrm>
          <a:prstGeom prst="roundRect">
            <a:avLst>
              <a:gd name="adj" fmla="val 17778"/>
            </a:avLst>
          </a:prstGeom>
          <a:solidFill>
            <a:srgbClr val="12263A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324100" y="1714500"/>
            <a:ext cx="819150" cy="514350"/>
          </a:xfrm>
          <a:prstGeom prst="roundRect">
            <a:avLst>
              <a:gd name="adj" fmla="val 17778"/>
            </a:avLst>
          </a:prstGeom>
          <a:solidFill>
            <a:srgbClr val="12263A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19450" y="1714500"/>
            <a:ext cx="819150" cy="514350"/>
          </a:xfrm>
          <a:prstGeom prst="roundRect">
            <a:avLst>
              <a:gd name="adj" fmla="val 17778"/>
            </a:avLst>
          </a:prstGeom>
          <a:solidFill>
            <a:srgbClr val="12263A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Mixed4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0" y="1714500"/>
            <a:ext cx="819150" cy="514350"/>
          </a:xfrm>
          <a:prstGeom prst="roundRect">
            <a:avLst>
              <a:gd name="adj" fmla="val 17778"/>
            </a:avLst>
          </a:prstGeom>
          <a:solidFill>
            <a:srgbClr val="12263A"/>
          </a:solidFill>
          <a:ln w="19050">
            <a:solidFill>
              <a:srgbClr val="A78BF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Mixed5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10150" y="1714500"/>
            <a:ext cx="819150" cy="514350"/>
          </a:xfrm>
          <a:prstGeom prst="roundRect">
            <a:avLst>
              <a:gd name="adj" fmla="val 17778"/>
            </a:avLst>
          </a:prstGeom>
          <a:solidFill>
            <a:srgbClr val="12263A"/>
          </a:solidFill>
          <a:ln w="19050">
            <a:solidFill>
              <a:srgbClr val="A78BF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Mixed6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05500" y="1714500"/>
            <a:ext cx="819150" cy="514350"/>
          </a:xfrm>
          <a:prstGeom prst="roundRect">
            <a:avLst>
              <a:gd name="adj" fmla="val 17778"/>
            </a:avLst>
          </a:prstGeom>
          <a:solidFill>
            <a:srgbClr val="12263A"/>
          </a:solidFill>
          <a:ln w="19050">
            <a:solidFill>
              <a:srgbClr val="A3E63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Mixed7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00850" y="1714500"/>
            <a:ext cx="819150" cy="514350"/>
          </a:xfrm>
          <a:prstGeom prst="roundRect">
            <a:avLst>
              <a:gd name="adj" fmla="val 17778"/>
            </a:avLst>
          </a:prstGeom>
          <a:solidFill>
            <a:srgbClr val="12263A"/>
          </a:solidFill>
          <a:ln w="19050">
            <a:solidFill>
              <a:srgbClr val="A3E63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Mixed8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33400" y="2286000"/>
            <a:ext cx="3505200" cy="266700"/>
          </a:xfrm>
          <a:prstGeom prst="roundRect">
            <a:avLst>
              <a:gd name="adj" fmla="val 34286"/>
            </a:avLst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4 条：用来学习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114800" y="2286000"/>
            <a:ext cx="1714500" cy="266700"/>
          </a:xfrm>
          <a:prstGeom prst="roundRect">
            <a:avLst>
              <a:gd name="adj" fmla="val 34286"/>
            </a:avLst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2 条：挑选方案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905500" y="2286000"/>
            <a:ext cx="1714500" cy="266700"/>
          </a:xfrm>
          <a:prstGeom prst="roundRect">
            <a:avLst>
              <a:gd name="adj" fmla="val 34286"/>
            </a:avLst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A3E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2 条：期末考试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3400" y="2705100"/>
            <a:ext cx="7086600" cy="990600"/>
          </a:xfrm>
          <a:prstGeom prst="roundRect">
            <a:avLst>
              <a:gd name="adj" fmla="val 9231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03200" tIns="152400" rIns="203200" bIns="152400" rtlCol="0" anchor="ctr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 SOC = 1 − 已放出电量 / 总容量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2.72639 Ah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当作“标准答案”：从满电开始，用仪器累计的放电量计算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533400" y="3905250"/>
            <a:ext cx="7239000" cy="438150"/>
          </a:xfrm>
          <a:prstGeom prst="roundRect">
            <a:avLst>
              <a:gd name="adj" fmla="val 20870"/>
            </a:avLst>
          </a:prstGeom>
          <a:ln/>
        </p:spPr>
        <p:txBody>
          <a:bodyPr wrap="square" lIns="50800" tIns="0" rIns="5080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起点满电　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每次实验前都充满电并静置约1小时，起点可看作100%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533400" y="4457700"/>
            <a:ext cx="7239000" cy="438150"/>
          </a:xfrm>
          <a:prstGeom prst="roundRect">
            <a:avLst>
              <a:gd name="adj" fmla="val 20870"/>
            </a:avLst>
          </a:prstGeom>
          <a:ln/>
        </p:spPr>
        <p:txBody>
          <a:bodyPr wrap="square" lIns="50800" tIns="0" rIns="5080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不许偷看　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按整条记录分组，测试数据绝不用来调参，像考题不提前泄露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33400" y="5010150"/>
            <a:ext cx="7239000" cy="438150"/>
          </a:xfrm>
          <a:prstGeom prst="roundRect">
            <a:avLst>
              <a:gd name="adj" fmla="val 20870"/>
            </a:avLst>
          </a:prstGeom>
          <a:ln/>
        </p:spPr>
        <p:txBody>
          <a:bodyPr wrap="square" lIns="50800" tIns="0" rIns="5080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答案有误差　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参考值是算出来的，不是绝对真值，本身有一定误差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058150" y="1066800"/>
            <a:ext cx="3600450" cy="4572000"/>
          </a:xfrm>
          <a:prstGeom prst="roundRect">
            <a:avLst>
              <a:gd name="adj" fmla="val 2540"/>
            </a:avLst>
          </a:prstGeom>
          <a:solidFill>
            <a:srgbClr val="12263A"/>
          </a:solidFill>
          <a:ln w="19050">
            <a:solidFill>
              <a:srgbClr val="22D3EE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8210550" y="1181100"/>
            <a:ext cx="3295650" cy="323850"/>
          </a:xfrm>
          <a:prstGeom prst="roundRect">
            <a:avLst>
              <a:gd name="adj" fmla="val 28235"/>
            </a:avLst>
          </a:prstGeom>
          <a:ln/>
        </p:spPr>
        <p:txBody>
          <a:bodyPr wrap="square" lIns="101600" tIns="50800" rIns="101600" bIns="5080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这些数据分别用来干什么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210550" y="1581150"/>
            <a:ext cx="3295650" cy="704850"/>
          </a:xfrm>
          <a:prstGeom prst="roundRect">
            <a:avLst>
              <a:gd name="adj" fmla="val 12973"/>
            </a:avLst>
          </a:prstGeom>
          <a:ln/>
        </p:spPr>
        <p:txBody>
          <a:bodyPr wrap="square" lIns="101600" tIns="50800" rIns="101600" bIns="5080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容量测试 551_Cap_1C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测出电池总容量 2.72639 Ah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8210550" y="2362200"/>
            <a:ext cx="3295650" cy="704850"/>
          </a:xfrm>
          <a:prstGeom prst="roundRect">
            <a:avLst>
              <a:gd name="adj" fmla="val 12973"/>
            </a:avLst>
          </a:prstGeom>
          <a:ln/>
        </p:spPr>
        <p:txBody>
          <a:bodyPr wrap="square" lIns="101600" tIns="50800" rIns="101600" bIns="5080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慢放电 549_C20DisCh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得到“电压—电量”对照曲线</a:t>
            </a:r>
            <a:endParaRPr lang="en-US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8210550" y="3143250"/>
            <a:ext cx="3295650" cy="704850"/>
          </a:xfrm>
          <a:prstGeom prst="roundRect">
            <a:avLst>
              <a:gd name="adj" fmla="val 12973"/>
            </a:avLst>
          </a:prstGeom>
          <a:ln/>
        </p:spPr>
        <p:txBody>
          <a:bodyPr wrap="square" lIns="101600" tIns="50800" rIns="101600" bIns="5080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脉冲测试 549_HPPC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测电池内阻等参数（42个脉冲）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8210550" y="3924300"/>
            <a:ext cx="3295650" cy="704850"/>
          </a:xfrm>
          <a:prstGeom prst="roundRect">
            <a:avLst>
              <a:gd name="adj" fmla="val 12973"/>
            </a:avLst>
          </a:prstGeom>
          <a:ln/>
        </p:spPr>
        <p:txBody>
          <a:bodyPr wrap="square" lIns="101600" tIns="50800" rIns="101600" bIns="5080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动态工况 Mixed1–8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模拟真实使用：训练、验证、测试</a:t>
            </a:r>
            <a:endParaRPr lang="en-US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8210550" y="4705350"/>
            <a:ext cx="3295650" cy="704850"/>
          </a:xfrm>
          <a:prstGeom prst="roundRect">
            <a:avLst>
              <a:gd name="adj" fmla="val 12973"/>
            </a:avLst>
          </a:prstGeom>
          <a:ln/>
        </p:spPr>
        <p:txBody>
          <a:bodyPr wrap="square" lIns="101600" tIns="50800" rIns="101600" bIns="5080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充电记录 Charge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确认每次实验从满电开始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3810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第一步：物理模型估算（RC + EKF）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8382000" y="49530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33400" y="1066800"/>
            <a:ext cx="5715000" cy="1524000"/>
          </a:xfrm>
          <a:prstGeom prst="roundRect">
            <a:avLst>
              <a:gd name="adj" fmla="val 6000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电量怎么变：用掉多少电就减多少；极化电压慢慢恢复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SOCₖ = SOCₖ₋₁ − Ī·Δt / (3600·Q)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Upₖ = a·Upₖ₋₁ + R₁(1 − a)·Ī，  a = e^(−Δt/τ)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33400" y="2724150"/>
            <a:ext cx="5715000" cy="1066800"/>
          </a:xfrm>
          <a:prstGeom prst="roundRect">
            <a:avLst>
              <a:gd name="adj" fmla="val 8571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电压怎么算：开路电压减去内阻和极化造成的损失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Vₖ = OCV(SOCₖ) − Iₖ·R₀ − Upₖ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33400" y="4038600"/>
            <a:ext cx="5715000" cy="323850"/>
          </a:xfrm>
          <a:prstGeom prst="roundRect">
            <a:avLst>
              <a:gd name="adj" fmla="val 28235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EKF 像导航：每一步都用实测电压校准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3400" y="4438650"/>
            <a:ext cx="1771650" cy="514350"/>
          </a:xfrm>
          <a:prstGeom prst="roundRect">
            <a:avLst>
              <a:gd name="adj" fmla="val 17778"/>
            </a:avLst>
          </a:prstGeom>
          <a:solidFill>
            <a:srgbClr val="12263A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按模型预测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705100" y="4438650"/>
            <a:ext cx="1619250" cy="514350"/>
          </a:xfrm>
          <a:prstGeom prst="roundRect">
            <a:avLst>
              <a:gd name="adj" fmla="val 17778"/>
            </a:avLst>
          </a:prstGeom>
          <a:solidFill>
            <a:srgbClr val="22D3EE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1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对比实测电压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724400" y="4438650"/>
            <a:ext cx="1524000" cy="514350"/>
          </a:xfrm>
          <a:prstGeom prst="roundRect">
            <a:avLst>
              <a:gd name="adj" fmla="val 17778"/>
            </a:avLst>
          </a:prstGeom>
          <a:solidFill>
            <a:srgbClr val="12263A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按差距修正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352675" y="4572000"/>
            <a:ext cx="304800" cy="247650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2" name="Shape 9"/>
          <p:cNvSpPr/>
          <p:nvPr/>
        </p:nvSpPr>
        <p:spPr>
          <a:xfrm>
            <a:off x="4371975" y="4572000"/>
            <a:ext cx="304800" cy="247650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3" name="Shape 10"/>
          <p:cNvSpPr/>
          <p:nvPr/>
        </p:nvSpPr>
        <p:spPr>
          <a:xfrm>
            <a:off x="1419225" y="5143500"/>
            <a:ext cx="4067175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5486400" y="4953000"/>
            <a:ext cx="0" cy="190500"/>
          </a:xfrm>
          <a:prstGeom prst="line">
            <a:avLst/>
          </a:prstGeom>
          <a:noFill/>
          <a:ln w="15875">
            <a:solidFill>
              <a:srgbClr val="22D3E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419225" y="4953000"/>
            <a:ext cx="0" cy="190500"/>
          </a:xfrm>
          <a:prstGeom prst="line">
            <a:avLst/>
          </a:prstGeom>
          <a:noFill/>
          <a:ln w="15875">
            <a:solidFill>
              <a:srgbClr val="22D3EE"/>
            </a:solidFill>
            <a:prstDash val="dash"/>
            <a:headEnd type="triangle"/>
          </a:ln>
        </p:spPr>
      </p:sp>
      <p:sp>
        <p:nvSpPr>
          <p:cNvPr id="16" name="Text 13"/>
          <p:cNvSpPr/>
          <p:nvPr/>
        </p:nvSpPr>
        <p:spPr>
          <a:xfrm>
            <a:off x="6667500" y="1066800"/>
            <a:ext cx="4991100" cy="2695575"/>
          </a:xfrm>
          <a:prstGeom prst="roundRect">
            <a:avLst>
              <a:gd name="adj" fmla="val 3392"/>
            </a:avLst>
          </a:prstGeom>
          <a:solidFill>
            <a:srgbClr val="F4F7FA"/>
          </a:solidFill>
          <a:ln w="15875">
            <a:solidFill>
              <a:srgbClr val="22D3EE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1450" dirty="0"/>
          </a:p>
        </p:txBody>
      </p:sp>
      <p:pic>
        <p:nvPicPr>
          <p:cNvPr id="17" name="Image 0" descr="outputs/figures/model/ocv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2750" y="1162050"/>
            <a:ext cx="4800600" cy="250507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667500" y="3829050"/>
            <a:ext cx="4991100" cy="285750"/>
          </a:xfrm>
          <a:prstGeom prst="roundRect">
            <a:avLst>
              <a:gd name="adj" fmla="val 32000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“电压—电量”对照曲线（小电流慢放电测得）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667500" y="4229100"/>
            <a:ext cx="1562100" cy="1028700"/>
          </a:xfrm>
          <a:prstGeom prst="roundRect">
            <a:avLst>
              <a:gd name="adj" fmla="val 8889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1524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R₀ 内阻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17.907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mΩ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8382000" y="4229100"/>
            <a:ext cx="1562100" cy="1028700"/>
          </a:xfrm>
          <a:prstGeom prst="roundRect">
            <a:avLst>
              <a:gd name="adj" fmla="val 8889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1524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R₁ 极化电阻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7.123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mΩ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10096500" y="4229100"/>
            <a:ext cx="1562100" cy="1028700"/>
          </a:xfrm>
          <a:prstGeom prst="roundRect">
            <a:avLst>
              <a:gd name="adj" fmla="val 8889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1524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 恢复时间常数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8.771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6667500" y="5372100"/>
            <a:ext cx="4991100" cy="285750"/>
          </a:xfrm>
          <a:prstGeom prst="roundRect">
            <a:avLst>
              <a:gd name="adj" fmla="val 32000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42 个脉冲测试求得；没考虑温度影响，所以会留下误差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3810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第二步：机器学习纠偏（随机森林）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8382000" y="49530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33400" y="1104900"/>
            <a:ext cx="1905000" cy="819150"/>
          </a:xfrm>
          <a:prstGeom prst="roundRect">
            <a:avLst>
              <a:gd name="adj" fmla="val 11163"/>
            </a:avLst>
          </a:prstGeom>
          <a:solidFill>
            <a:srgbClr val="12263A"/>
          </a:solidFill>
          <a:ln w="19050">
            <a:solidFill>
              <a:srgbClr val="22D3EE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</a:t>
            </a:r>
            <a:endParaRPr lang="en-US" sz="1450" dirty="0"/>
          </a:p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电压、电流、温度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2486025" y="1390650"/>
            <a:ext cx="304800" cy="247650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7" name="Text 4"/>
          <p:cNvSpPr/>
          <p:nvPr/>
        </p:nvSpPr>
        <p:spPr>
          <a:xfrm>
            <a:off x="2838450" y="1104900"/>
            <a:ext cx="1905000" cy="819150"/>
          </a:xfrm>
          <a:prstGeom prst="roundRect">
            <a:avLst>
              <a:gd name="adj" fmla="val 11163"/>
            </a:avLst>
          </a:prstGeom>
          <a:solidFill>
            <a:srgbClr val="12263A"/>
          </a:solidFill>
          <a:ln w="19050">
            <a:solidFill>
              <a:srgbClr val="A78BFA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EKF</a:t>
            </a:r>
            <a:endParaRPr lang="en-US" sz="1450" dirty="0"/>
          </a:p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先给出一个估计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791075" y="1390650"/>
            <a:ext cx="304800" cy="247650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9" name="Text 6"/>
          <p:cNvSpPr/>
          <p:nvPr/>
        </p:nvSpPr>
        <p:spPr>
          <a:xfrm>
            <a:off x="5143500" y="1104900"/>
            <a:ext cx="1905000" cy="819150"/>
          </a:xfrm>
          <a:prstGeom prst="roundRect">
            <a:avLst>
              <a:gd name="adj" fmla="val 11163"/>
            </a:avLst>
          </a:prstGeom>
          <a:solidFill>
            <a:srgbClr val="12263A"/>
          </a:solidFill>
          <a:ln w="19050">
            <a:solidFill>
              <a:srgbClr val="22D3EE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个输入信息</a:t>
            </a:r>
            <a:endParaRPr lang="en-US" sz="1450" dirty="0"/>
          </a:p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只看现在和过去5秒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096125" y="1390650"/>
            <a:ext cx="304800" cy="247650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1" name="Text 8"/>
          <p:cNvSpPr/>
          <p:nvPr/>
        </p:nvSpPr>
        <p:spPr>
          <a:xfrm>
            <a:off x="7448550" y="1104900"/>
            <a:ext cx="1905000" cy="819150"/>
          </a:xfrm>
          <a:prstGeom prst="roundRect">
            <a:avLst>
              <a:gd name="adj" fmla="val 11163"/>
            </a:avLst>
          </a:prstGeom>
          <a:solidFill>
            <a:srgbClr val="22D3EE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B1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</a:t>
            </a:r>
            <a:endParaRPr lang="en-US" sz="1450" dirty="0"/>
          </a:p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0B1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 EKF 差多少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9401175" y="1390650"/>
            <a:ext cx="304800" cy="247650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/>
          <p:nvPr/>
        </p:nvSpPr>
        <p:spPr>
          <a:xfrm>
            <a:off x="9753600" y="1104900"/>
            <a:ext cx="1905000" cy="819150"/>
          </a:xfrm>
          <a:prstGeom prst="roundRect">
            <a:avLst>
              <a:gd name="adj" fmla="val 11163"/>
            </a:avLst>
          </a:prstGeom>
          <a:solidFill>
            <a:srgbClr val="A3E635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B1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 SOC</a:t>
            </a:r>
            <a:endParaRPr lang="en-US" sz="1450" dirty="0"/>
          </a:p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0B1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EKF 估计 + 修正量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33400" y="2152650"/>
            <a:ext cx="6096000" cy="3810000"/>
          </a:xfrm>
          <a:prstGeom prst="roundRect">
            <a:avLst>
              <a:gd name="adj" fmla="val 2400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随机森林最看重哪些信息（重要性，%）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8650" y="2533650"/>
          <a:ext cx="5905500" cy="3333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2"/>
          <p:cNvSpPr/>
          <p:nvPr/>
        </p:nvSpPr>
        <p:spPr>
          <a:xfrm>
            <a:off x="6858000" y="2152650"/>
            <a:ext cx="4800600" cy="685800"/>
          </a:xfrm>
          <a:prstGeom prst="roundRect">
            <a:avLst>
              <a:gd name="adj" fmla="val 13333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28600" tIns="50800" rIns="228600" bIns="5080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它学什么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 SOC 与 EKF 估计之间的差值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858000" y="2914650"/>
            <a:ext cx="4800600" cy="685800"/>
          </a:xfrm>
          <a:prstGeom prst="roundRect">
            <a:avLst>
              <a:gd name="adj" fmla="val 13333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28600" tIns="50800" rIns="228600" bIns="5080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模型规模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棵决策树一起“投票”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858000" y="3676650"/>
            <a:ext cx="4800600" cy="685800"/>
          </a:xfrm>
          <a:prstGeom prst="roundRect">
            <a:avLst>
              <a:gd name="adj" fmla="val 13333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28600" tIns="50800" rIns="228600" bIns="5080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怎么防作弊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条学习 → 2 条挑方案 → 固定后才考试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6858000" y="4438650"/>
            <a:ext cx="4800600" cy="685800"/>
          </a:xfrm>
          <a:prstGeom prst="roundRect">
            <a:avLst>
              <a:gd name="adj" fmla="val 13333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28600" tIns="50800" rIns="228600" bIns="5080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不能偷看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不输入标准答案、累计电量和未来数据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6858000" y="5200650"/>
            <a:ext cx="4800600" cy="685800"/>
          </a:xfrm>
          <a:prstGeom prst="roundRect">
            <a:avLst>
              <a:gd name="adj" fmla="val 13333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28600" tIns="50800" rIns="228600" bIns="5080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只改结果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修正只加在输出上，不改 EKF 内部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3810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测试结果：平均误差降低 </a:t>
            </a:r>
            <a:pPr indent="0" marL="0">
              <a:buNone/>
            </a:pPr>
            <a:r>
              <a:rPr lang="en-US" sz="2700" b="1" dirty="0">
                <a:solidFill>
                  <a:srgbClr val="A3E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53.89%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8382000" y="49530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33400" y="1066800"/>
            <a:ext cx="6286500" cy="3362325"/>
          </a:xfrm>
          <a:prstGeom prst="roundRect">
            <a:avLst>
              <a:gd name="adj" fmla="val 2720"/>
            </a:avLst>
          </a:prstGeom>
          <a:solidFill>
            <a:srgbClr val="F4F7FA"/>
          </a:solidFill>
          <a:ln w="15875">
            <a:solidFill>
              <a:srgbClr val="22D3EE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1450" dirty="0"/>
          </a:p>
        </p:txBody>
      </p:sp>
      <p:pic>
        <p:nvPicPr>
          <p:cNvPr id="6" name="Image 0" descr="outputs/figures/experiments/normal_552_Mixed7_so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8650" y="1162050"/>
            <a:ext cx="6096000" cy="31718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48500" y="1066800"/>
            <a:ext cx="4610100" cy="3362325"/>
          </a:xfrm>
          <a:prstGeom prst="roundRect">
            <a:avLst>
              <a:gd name="adj" fmla="val 2720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两条测试记录的误差 RMSE（越小越好）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162800" y="1428750"/>
          <a:ext cx="4381500" cy="290512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4"/>
          <p:cNvSpPr/>
          <p:nvPr/>
        </p:nvSpPr>
        <p:spPr>
          <a:xfrm>
            <a:off x="533400" y="4629150"/>
            <a:ext cx="3581400" cy="1219200"/>
          </a:xfrm>
          <a:prstGeom prst="roundRect">
            <a:avLst>
              <a:gd name="adj" fmla="val 7500"/>
            </a:avLst>
          </a:prstGeom>
          <a:solidFill>
            <a:srgbClr val="12263A"/>
          </a:solidFill>
          <a:ln w="19050">
            <a:solidFill>
              <a:srgbClr val="22D3EE"/>
            </a:solidFill>
          </a:ln>
        </p:spPr>
        <p:txBody>
          <a:bodyPr wrap="square" lIns="279400" tIns="101600" rIns="279400" bIns="101600" rtlCol="0" anchor="ctr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2.116 → 0.976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平均误差 RMSE（百分点）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4305300" y="4629150"/>
            <a:ext cx="3581400" cy="1219200"/>
          </a:xfrm>
          <a:prstGeom prst="roundRect">
            <a:avLst>
              <a:gd name="adj" fmla="val 7500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79400" tIns="101600" rIns="279400" bIns="101600" rtlCol="0" anchor="ctr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1.770 → 0.801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平均绝对误差 MAE（百分点）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8077200" y="4629150"/>
            <a:ext cx="3581400" cy="1219200"/>
          </a:xfrm>
          <a:prstGeom prst="roundRect">
            <a:avLst>
              <a:gd name="adj" fmla="val 7500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79400" tIns="101600" rIns="279400" bIns="101600" rtlCol="0" anchor="ctr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3.597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个别时刻的最大误差（百分点）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3810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换个难度再考：干扰实验与简单对照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8382000" y="49530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33400" y="1066800"/>
            <a:ext cx="6286500" cy="3238500"/>
          </a:xfrm>
          <a:prstGeom prst="roundRect">
            <a:avLst>
              <a:gd name="adj" fmla="val 2824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三种情况下的平均误差 RMSE（越小越好）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28650" y="1409700"/>
          <a:ext cx="6096000" cy="2819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7048500" y="1066800"/>
            <a:ext cx="4610100" cy="2495550"/>
          </a:xfrm>
          <a:prstGeom prst="roundRect">
            <a:avLst>
              <a:gd name="adj" fmla="val 3664"/>
            </a:avLst>
          </a:prstGeom>
          <a:solidFill>
            <a:srgbClr val="F4F7FA"/>
          </a:solidFill>
          <a:ln w="15875">
            <a:solidFill>
              <a:srgbClr val="22D3EE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1450" dirty="0"/>
          </a:p>
        </p:txBody>
      </p:sp>
      <p:pic>
        <p:nvPicPr>
          <p:cNvPr id="8" name="Image 0" descr="outputs/figures/experiments/initial_bias_552_Mixed7_erro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750" y="1162050"/>
            <a:ext cx="4419600" cy="230505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048500" y="3657600"/>
            <a:ext cx="4610100" cy="571500"/>
          </a:xfrm>
          <a:prstGeom prst="roundRect">
            <a:avLst>
              <a:gd name="adj" fmla="val 16000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起点估低时的误差曲线：修正后整体更接近 0，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但会有小幅抖动；模型没有重新训练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33400" y="4476750"/>
            <a:ext cx="3581400" cy="1428750"/>
          </a:xfrm>
          <a:prstGeom prst="roundRect">
            <a:avLst>
              <a:gd name="adj" fmla="val 6400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起点估错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起点故意估低 10%：误差仍降 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A3E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53.71%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开头第一个点仍差约 4 个百分点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4305300" y="4476750"/>
            <a:ext cx="3581400" cy="1428750"/>
          </a:xfrm>
          <a:prstGeom prst="roundRect">
            <a:avLst>
              <a:gd name="adj" fmla="val 6400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测量有干扰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给电压、电流加随机干扰：误差降 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A3E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54.46%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只试了一次，还需要多次重复验证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8077200" y="4476750"/>
            <a:ext cx="3581400" cy="1428750"/>
          </a:xfrm>
          <a:prstGeom prst="roundRect">
            <a:avLst>
              <a:gd name="adj" fmla="val 6400"/>
            </a:avLst>
          </a:prstGeom>
          <a:solidFill>
            <a:srgbClr val="12263A"/>
          </a:solidFill>
          <a:ln w="19050">
            <a:solidFill>
              <a:srgbClr val="22D3EE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简单对照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只给 EKF 加一个固定修正值 1.59pp，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误差就降 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A3E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43.8%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；随机森林再多降约 0.21pp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3810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我们的结论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8382000" y="49530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33400" y="1066800"/>
            <a:ext cx="4191000" cy="3810000"/>
          </a:xfrm>
          <a:prstGeom prst="roundRect">
            <a:avLst>
              <a:gd name="adj" fmla="val 2400"/>
            </a:avLst>
          </a:prstGeom>
          <a:solidFill>
            <a:srgbClr val="0F3340"/>
          </a:solidFill>
          <a:ln w="19050">
            <a:solidFill>
              <a:srgbClr val="22D3EE"/>
            </a:solidFill>
          </a:ln>
        </p:spPr>
        <p:txBody>
          <a:bodyPr wrap="square" lIns="279400" tIns="254000" rIns="279400" bIns="254000" rtlCol="0" anchor="ctr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两条测试记录上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5700" b="1" dirty="0">
                <a:solidFill>
                  <a:srgbClr val="A3E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−53.89%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平均估计误差降低幅度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5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2.116 → 0.976 </a:t>
            </a:r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平均误差：EKF → EKF + 随机森林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953000" y="1066800"/>
            <a:ext cx="6705600" cy="1181100"/>
          </a:xfrm>
          <a:prstGeom prst="roundRect">
            <a:avLst>
              <a:gd name="adj" fmla="val 7742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330200" tIns="101600" rIns="330200" bIns="101600" rtlCol="0" anchor="ctr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加了干扰也有效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正常、起点估错、测量有干扰三种情况下，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平均误差都降低 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A3E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53.71%～54.46%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953000" y="2362200"/>
            <a:ext cx="6705600" cy="1181100"/>
          </a:xfrm>
          <a:prstGeom prst="roundRect">
            <a:avLst>
              <a:gd name="adj" fmla="val 7742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330200" tIns="101600" rIns="330200" bIns="101600" rtlCol="0" anchor="ctr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主要功劳是“去掉固定偏差”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A3E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81%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的改善加一个固定修正值就能做到，随机森林再多降约 0.21pp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953000" y="3657600"/>
            <a:ext cx="6705600" cy="1181100"/>
          </a:xfrm>
          <a:prstGeom prst="roundRect">
            <a:avLst>
              <a:gd name="adj" fmla="val 7742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330200" tIns="101600" rIns="330200" bIns="101600" rtlCol="0" anchor="ctr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个别时刻仍有误差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最大误差仍约 3.6～4.4 个百分点，修正后的曲线有小抖动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33400" y="5067300"/>
            <a:ext cx="11125200" cy="609600"/>
          </a:xfrm>
          <a:prstGeom prst="roundRect">
            <a:avLst>
              <a:gd name="adj" fmla="val 15000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330200" tIns="0" rIns="33020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适用范围　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只在同一节电池、25℃、两条测试记录上验证过；“标准答案”本身也是计算值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2000" y="857250"/>
            <a:ext cx="10668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33400" y="571500"/>
            <a:ext cx="7620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这件事有什么用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382000" y="76200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dirty="0">
                <a:solidFill>
                  <a:srgbClr val="93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pPr algn="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33400" y="1428750"/>
            <a:ext cx="3581400" cy="1905000"/>
          </a:xfrm>
          <a:prstGeom prst="roundRect">
            <a:avLst>
              <a:gd name="adj" fmla="val 4800"/>
            </a:avLst>
          </a:prstGeom>
          <a:solidFill>
            <a:srgbClr val="12263A"/>
          </a:solidFill>
          <a:ln w="19050">
            <a:solidFill>
              <a:srgbClr val="22D3EE"/>
            </a:solidFill>
          </a:ln>
        </p:spPr>
        <p:txBody>
          <a:bodyPr wrap="square" lIns="304800" tIns="203200" rIns="304800" bIns="20320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应用意义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 是电池的“电量表”：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电动车、手机、储能都靠它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显示电量、防止过充过放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305300" y="1428750"/>
            <a:ext cx="3581400" cy="1905000"/>
          </a:xfrm>
          <a:prstGeom prst="roundRect">
            <a:avLst>
              <a:gd name="adj" fmla="val 4800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304800" tIns="203200" rIns="304800" bIns="20320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方法意义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物理模型讲道理，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机器学习补短板；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再用简单对照检验真实效果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77200" y="1428750"/>
            <a:ext cx="3581400" cy="1905000"/>
          </a:xfrm>
          <a:prstGeom prst="roundRect">
            <a:avLst>
              <a:gd name="adj" fmla="val 4800"/>
            </a:avLst>
          </a:prstGeom>
          <a:solidFill>
            <a:srgbClr val="12263A"/>
          </a:solidFill>
          <a:ln w="12700">
            <a:solidFill>
              <a:srgbClr val="24405A"/>
            </a:solidFill>
          </a:ln>
        </p:spPr>
        <p:txBody>
          <a:bodyPr wrap="square" lIns="304800" tIns="203200" rIns="304800" bIns="20320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实践意义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从公开数据到最终测试，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全流程跑通、可以复现；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按记录分组，杜绝“偷看答案”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33400" y="3543300"/>
            <a:ext cx="11125200" cy="666750"/>
          </a:xfrm>
          <a:prstGeom prst="roundRect">
            <a:avLst>
              <a:gd name="adj" fmla="val 13714"/>
            </a:avLst>
          </a:prstGeom>
          <a:solidFill>
            <a:srgbClr val="0F3340"/>
          </a:solidFill>
          <a:ln w="12700">
            <a:solidFill>
              <a:srgbClr val="22D3EE"/>
            </a:solidFill>
          </a:ln>
        </p:spPr>
        <p:txBody>
          <a:bodyPr wrap="square" lIns="330200" tIns="0" rIns="33020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3E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　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用更多电池、温度和老化数据检验 · 多次重复干扰实验 · 让修正结果更平滑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533400" y="4686300"/>
            <a:ext cx="666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谢谢大家，欢迎提问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锂电池 SOC 融合估计</dc:title>
  <dc:subject>PptxGenJS Presentation</dc:subject>
  <dc:creator>PptxGenJS</dc:creator>
  <cp:lastModifiedBy>PptxGenJS</cp:lastModifiedBy>
  <cp:revision>1</cp:revision>
  <dcterms:created xsi:type="dcterms:W3CDTF">2026-10-29T12:10:35Z</dcterms:created>
  <dcterms:modified xsi:type="dcterms:W3CDTF">2026-10-29T12:10:35Z</dcterms:modified>
</cp:coreProperties>
</file>