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  <Relationship Id="rId16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大家好，我们的题目是锂电池SOC融合估计。说白了，就是想准确知道一块电池还剩多少电。我们的办法分两步：先用电池的物理模型估算，再让机器学习帮它纠正误差。在测试中，平均估计误差降低了一半以上。接下来我按问题、数据、算法、结论和意义五部分来讲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SOC就是剩余电量的百分比，和手机上显示的电量是一个意思。但电池里没有一个“电量表”能直接测出它，只能靠电压、电流和温度去推算。这里有两个难点。第一，看电压不准：用电一快电压就往下掉，一松开又回升，大家看右边这张实测图，电流一直在跳，电压也跟着跳，可真实电量是平稳下降的。第二，靠“记账”会越记越偏：安时积分就是把流出去的电流一笔笔记下来，可起点只要记错一点，或者电流表有一点偏差，误差就会越积越大。所以我们的办法是：先用物理模型估算，再用机器学习把剩下的误差纠正过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来自一个公开的锂电池实测数据集，是LG的18650电池，在25摄氏度下测的。不同的测试各有用处：容量测试告诉我们电池总共能装2.72639安时的电，慢放电得到电压和电量的对照曲线，脉冲测试用来测内阻，8条模拟真实使用的动态工况拿来训练和考试。我们把这8条像分考题一样分组：4条用来学习，2条用来挑方案，最后2条留到期末考试，绝不提前看。用来打分的“标准答案”，是从满电开始累计放电量算出来的，它本身也有一点误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步，我们把电池看成一个简单电路，叫一阶RC模型。它记两件事：一是电量，用掉多少电就减多少；二是“极化电压”，可以理解为电池用力之后的喘气，会慢慢恢复。电压等于开路电压减去内阻和极化造成的损失。EKF就像手机导航，先按模型推算下一步，再拿实测电压对一对，差多少就修正多少，每个采样都重复一次。模型里的内阻等参数是从42个脉冲测试求出来的。不过模型没考虑温度变化，所以还会留下一些误差，这就交给下一步处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步用随机森林。它不替代上一步的模型，而是专门学“EKF通常会估错多少”。做法是：把电压、电流、温度、EKF的估计，以及过去5秒的变化，一共7个信息交给随机森林，它算出一个修正量，加到EKF的结果上。随机森林可以理解为120棵决策树一起投票。为了不作弊，它只用4条数据学习，用2条挑方案，定下来以后才去考那2条测试数据，而且从来不给它看标准答案和未来的数据。左边能看到，它最看重的是EKF的估计和电池温度；温度占比高，可能是因为放电过程中电池在升温，所以换个温度还管不管用，还需要另外验证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期末考试的成绩，也就是两条从没参与训练的测试记录。左图里，青色的修正结果比紫色的EKF更贴近标准答案。右边柱子越矮越好，两条记录的误差都降到了原来的一半左右。这里的误差用RMSE衡量，可以理解为估计值平均偏离真实电量几个百分点：平均从2.116降到0.976，降低了53.89%。不过个别时刻还是会差到大约3.6个百分点，并不是每个点都变好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们又换了两种难度来考：一种是故意把起点电量估低10%，一种是给电压和电流加上随机干扰，模型都不重新训练，误差照样降低了约54%。我们还想知道随机森林到底帮了多大忙，于是做了个简单对照：只给EKF加一个固定的修正值，误差就已经降低了43.8%，随机森林在这个基础上又多降了大约0.21个百分点。另外，干扰实验只做了一次，还需要多次重复才能下定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结三点。第一，修正后平均误差从2.116降到0.976，降低一半多，加了干扰也照样有效。第二，主要功劳是“去掉固定偏差”，大约81%的改善只靠加一个固定修正值就能做到，随机森林是在此之上锦上添花。第三，个别时刻仍有三到四个百分点的误差。需要说明的是，这些结论只在同一节电池、25摄氏度、两条测试记录上验证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说说意义。SOC就是电池的“电量表”，电动车、手机、储能电站都要靠它显示电量、防止过充过放。方法上，我们让讲道理的物理模型和会总结经验的机器学习互相补充，还用简单对照如实检验了机器学习的真实作用。实践上，我们把从数据到测试的全流程跑通了，可以复现。以后还可以用更多电池和温度来检验。谢谢大家，欢迎提问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oc_beautify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oc_beautify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1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fc255a1d8c1fe0e.pn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61dd656b731b0ab.png"/>
  <Relationship Id="rId3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5687594bce6a667.png"/>
  <Relationship Id="rId3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d04c899d55be065d.png"/>
  <Relationship Id="rId3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</a:path>
            </a:pathLst>
          </a:custGeom>
          <a:noFill/>
          <a:ln w="9525">
            <a:solidFill>
              <a:schemeClr val="accent6">
                <a:alpha val="35000"/>
              </a:schemeClr>
            </a:solidFill>
          </a:ln>
        </p:spPr>
      </p:sp>
      <p:sp>
        <p:nvSpPr>
          <p:cNvPr id="3" name="hero-glow"/>
          <p:cNvSpPr/>
          <p:nvPr/>
        </p:nvSpPr>
        <p:spPr>
          <a:xfrm>
            <a:off x="6953250" y="2571750"/>
            <a:ext cx="5715000" cy="3810000"/>
          </a:xfrm>
          <a:prstGeom prst="ellipse">
            <a:avLst/>
          </a:prstGeom>
          <a:gradFill>
            <a:gsLst>
              <a:gs pos="0">
                <a:schemeClr val="accent1">
                  <a:alpha val="22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race"/>
          <p:cNvSpPr/>
          <p:nvPr/>
        </p:nvSpPr>
        <p:spPr>
          <a:xfrm>
            <a:off x="8001000" y="1143000"/>
            <a:ext cx="3657600" cy="1714500"/>
          </a:xfrm>
          <a:custGeom>
            <a:avLst/>
            <a:gdLst/>
            <a:ahLst/>
            <a:cxnLst/>
            <a:rect l="l" t="t" r="r" b="b"/>
            <a:pathLst>
              <a:path w="3657600" h="1714500">
                <a:moveTo>
                  <a:pt x="0" y="0"/>
                </a:moveTo>
                <a:lnTo>
                  <a:pt x="1524000" y="0"/>
                </a:lnTo>
                <a:lnTo>
                  <a:pt x="1905000" y="381000"/>
                </a:lnTo>
                <a:lnTo>
                  <a:pt x="3657600" y="381000"/>
                </a:lnTo>
                <a:moveTo>
                  <a:pt x="1905000" y="381000"/>
                </a:moveTo>
                <a:lnTo>
                  <a:pt x="1905000" y="1333500"/>
                </a:lnTo>
                <a:lnTo>
                  <a:pt x="2286000" y="1714500"/>
                </a:lnTo>
                <a:lnTo>
                  <a:pt x="3657600" y="1714500"/>
                </a:lnTo>
              </a:path>
            </a:pathLst>
          </a:custGeom>
          <a:noFill/>
          <a:ln w="14288">
            <a:solidFill>
              <a:schemeClr val="accent1">
                <a:alpha val="45000"/>
              </a:schemeClr>
            </a:solidFill>
          </a:ln>
        </p:spPr>
      </p:sp>
      <p:grpSp>
        <p:nvGrpSpPr>
          <p:cNvPr id="8" name="header"/>
          <p:cNvGrpSpPr/>
          <p:nvPr/>
        </p:nvGrpSpPr>
        <p:grpSpPr>
          <a:xfrm>
            <a:off x="514350" y="895350"/>
            <a:ext cx="5925236" cy="1717294"/>
            <a:chOff x="514350" y="895350"/>
            <a:chExt cx="5925236" cy="1717294"/>
          </a:xfrm>
        </p:grpSpPr>
        <p:sp>
          <p:nvSpPr>
            <p:cNvPr id="5" name="TextBox 5"/>
            <p:cNvSpPr txBox="1"/>
            <p:nvPr/>
          </p:nvSpPr>
          <p:spPr>
            <a:xfrm>
              <a:off x="527304" y="895350"/>
              <a:ext cx="24595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电气大数据与人工智能 · 课程项目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4350" y="1416050"/>
              <a:ext cx="5925236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锂电池 SOC 融合估计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4256" y="2260600"/>
              <a:ext cx="3931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A9E7F2"/>
                  </a:solidFill>
                  <a:latin typeface="+mn-lt"/>
                  <a:ea typeface="+mn-ea"/>
                  <a:cs typeface="+mn-cs"/>
                </a:rPr>
                <a:t>扩展卡尔曼滤波 + 随机森林误差补偿</a:t>
              </a:r>
            </a:p>
          </p:txBody>
        </p:sp>
      </p:grpSp>
      <p:grpSp>
        <p:nvGrpSpPr>
          <p:cNvPr id="10" name="question"/>
          <p:cNvGrpSpPr/>
          <p:nvPr/>
        </p:nvGrpSpPr>
        <p:grpSpPr>
          <a:xfrm>
            <a:off x="526161" y="2984500"/>
            <a:ext cx="5366969" cy="278702"/>
            <a:chOff x="526161" y="2984500"/>
            <a:chExt cx="5366969" cy="278702"/>
          </a:xfrm>
        </p:grpSpPr>
        <p:sp>
          <p:nvSpPr>
            <p:cNvPr id="9" name="TextBox 9"/>
            <p:cNvSpPr txBox="1"/>
            <p:nvPr/>
          </p:nvSpPr>
          <p:spPr>
            <a:xfrm>
              <a:off x="526161" y="2984500"/>
              <a:ext cx="536696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研究问题：电池忽快忽慢地用电时，怎样准确知道还剩多少电？</a:t>
              </a:r>
            </a:p>
          </p:txBody>
        </p:sp>
      </p:grpSp>
      <p:grpSp>
        <p:nvGrpSpPr>
          <p:cNvPr id="18" name="steps"/>
          <p:cNvGrpSpPr/>
          <p:nvPr/>
        </p:nvGrpSpPr>
        <p:grpSpPr>
          <a:xfrm>
            <a:off x="533400" y="4191000"/>
            <a:ext cx="6838950" cy="647700"/>
            <a:chOff x="533400" y="4191000"/>
            <a:chExt cx="6838950" cy="647700"/>
          </a:xfrm>
        </p:grpSpPr>
        <p:sp>
          <p:nvSpPr>
            <p:cNvPr id="11" name="Freeform 11"/>
            <p:cNvSpPr/>
            <p:nvPr/>
          </p:nvSpPr>
          <p:spPr>
            <a:xfrm>
              <a:off x="533400" y="4191000"/>
              <a:ext cx="2381250" cy="647700"/>
            </a:xfrm>
            <a:prstGeom prst="homePlate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762250" y="4191000"/>
              <a:ext cx="2381250" cy="647700"/>
            </a:xfrm>
            <a:prstGeom prst="chevron">
              <a:avLst/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4991100" y="4191000"/>
              <a:ext cx="2381250" cy="6477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29081" y="4406900"/>
              <a:ext cx="5704713" cy="264033"/>
              <a:chOff x="1029081" y="4406900"/>
              <a:chExt cx="5704713" cy="264033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029081" y="440690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公开实测数据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00806" y="440690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物理模型估算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629656" y="4406900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1622"/>
                    </a:solidFill>
                    <a:latin typeface="+mn-lt"/>
                    <a:ea typeface="+mn-ea"/>
                    <a:cs typeface="+mn-cs"/>
                  </a:rPr>
                  <a:t>机器学习纠偏</a:t>
                </a:r>
              </a:p>
            </p:txBody>
          </p:sp>
        </p:grpSp>
      </p:grpSp>
      <p:grpSp>
        <p:nvGrpSpPr>
          <p:cNvPr id="21" name="hero"/>
          <p:cNvGrpSpPr/>
          <p:nvPr/>
        </p:nvGrpSpPr>
        <p:grpSpPr>
          <a:xfrm>
            <a:off x="7907884" y="3651250"/>
            <a:ext cx="3769766" cy="1390650"/>
            <a:chOff x="7907884" y="3651250"/>
            <a:chExt cx="3769766" cy="1390650"/>
          </a:xfrm>
        </p:grpSpPr>
        <p:sp>
          <p:nvSpPr>
            <p:cNvPr id="19" name="TextBox 19"/>
            <p:cNvSpPr txBox="1"/>
            <p:nvPr/>
          </p:nvSpPr>
          <p:spPr>
            <a:xfrm>
              <a:off x="7907884" y="3651250"/>
              <a:ext cx="376976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7200" b="1" dirty="0">
                  <a:solidFill>
                    <a:schemeClr val="accent2"/>
                  </a:solidFill>
                  <a:effectLst>
                    <a:glow rad="57150">
                      <a:srgbClr val="A3E635">
                        <a:alpha val="45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−53.89%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875520" y="47244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测试中平均估计误差降低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27304" y="5962650"/>
            <a:ext cx="31461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小组成员：（待填写）　　2026年10月29日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noFill/>
          <a:ln w="9525">
            <a:solidFill>
              <a:schemeClr val="accent6">
                <a:alpha val="30000"/>
              </a:scheme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7424" y="6159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问题</a:t>
            </a:r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　数据　算法　结论　意义</a:t>
            </a:r>
          </a:p>
        </p:txBody>
      </p:sp>
      <p:grpSp>
        <p:nvGrpSpPr>
          <p:cNvPr id="5" name="title"/>
          <p:cNvGrpSpPr/>
          <p:nvPr/>
        </p:nvGrpSpPr>
        <p:grpSpPr>
          <a:xfrm>
            <a:off x="519684" y="508000"/>
            <a:ext cx="3681237" cy="528066"/>
            <a:chOff x="519684" y="508000"/>
            <a:chExt cx="3681237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19684" y="508000"/>
              <a:ext cx="368123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SOC：电池还剩多少电</a:t>
              </a:r>
            </a:p>
          </p:txBody>
        </p:sp>
      </p:grpSp>
      <p:grpSp>
        <p:nvGrpSpPr>
          <p:cNvPr id="7" name="lead"/>
          <p:cNvGrpSpPr/>
          <p:nvPr/>
        </p:nvGrpSpPr>
        <p:grpSpPr>
          <a:xfrm>
            <a:off x="526161" y="1136650"/>
            <a:ext cx="6014101" cy="278702"/>
            <a:chOff x="526161" y="1136650"/>
            <a:chExt cx="6014101" cy="278702"/>
          </a:xfrm>
        </p:grpSpPr>
        <p:sp>
          <p:nvSpPr>
            <p:cNvPr id="6" name="TextBox 6"/>
            <p:cNvSpPr txBox="1"/>
            <p:nvPr/>
          </p:nvSpPr>
          <p:spPr>
            <a:xfrm>
              <a:off x="526161" y="1136650"/>
              <a:ext cx="60141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SOC 就是剩余电量百分比，没法直接测，只能用电压、电流、温度推算</a:t>
              </a:r>
            </a:p>
          </p:txBody>
        </p:sp>
      </p:grpSp>
      <p:grpSp>
        <p:nvGrpSpPr>
          <p:cNvPr id="11" name="challenge-voltage"/>
          <p:cNvGrpSpPr/>
          <p:nvPr/>
        </p:nvGrpSpPr>
        <p:grpSpPr>
          <a:xfrm>
            <a:off x="533400" y="1600200"/>
            <a:ext cx="7086600" cy="1123950"/>
            <a:chOff x="533400" y="1600200"/>
            <a:chExt cx="7086600" cy="1123950"/>
          </a:xfrm>
        </p:grpSpPr>
        <p:sp>
          <p:nvSpPr>
            <p:cNvPr id="8" name="Rectangle 8"/>
            <p:cNvSpPr/>
            <p:nvPr/>
          </p:nvSpPr>
          <p:spPr>
            <a:xfrm>
              <a:off x="533400" y="1600200"/>
              <a:ext cx="7086600" cy="11239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55142" y="17780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难点一：看电压不准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4761" y="2070100"/>
              <a:ext cx="4703318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电压会随用电快慢忽高忽低：猛加速时骤降，松开又回升，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所以不能直接把电压当成电量</a:t>
              </a:r>
            </a:p>
          </p:txBody>
        </p:sp>
      </p:grpSp>
      <p:grpSp>
        <p:nvGrpSpPr>
          <p:cNvPr id="15" name="challenge-integral"/>
          <p:cNvGrpSpPr/>
          <p:nvPr/>
        </p:nvGrpSpPr>
        <p:grpSpPr>
          <a:xfrm>
            <a:off x="533400" y="2876550"/>
            <a:ext cx="7086600" cy="1123950"/>
            <a:chOff x="533400" y="2876550"/>
            <a:chExt cx="7086600" cy="1123950"/>
          </a:xfrm>
        </p:grpSpPr>
        <p:sp>
          <p:nvSpPr>
            <p:cNvPr id="12" name="Rectangle 12"/>
            <p:cNvSpPr/>
            <p:nvPr/>
          </p:nvSpPr>
          <p:spPr>
            <a:xfrm>
              <a:off x="533400" y="2876550"/>
              <a:ext cx="7086600" cy="11239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142" y="3054350"/>
              <a:ext cx="2222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难点二：“记账”会越记越偏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4761" y="3346450"/>
              <a:ext cx="3981958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安时积分就是给流出的电流记账：起点记错一点，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或电流表有一点偏差，误差都会越积越大</a:t>
              </a:r>
            </a:p>
          </p:txBody>
        </p:sp>
      </p:grpSp>
      <p:grpSp>
        <p:nvGrpSpPr>
          <p:cNvPr id="27" name="approach"/>
          <p:cNvGrpSpPr/>
          <p:nvPr/>
        </p:nvGrpSpPr>
        <p:grpSpPr>
          <a:xfrm>
            <a:off x="533400" y="4191000"/>
            <a:ext cx="7086600" cy="1257300"/>
            <a:chOff x="533400" y="4191000"/>
            <a:chExt cx="7086600" cy="1257300"/>
          </a:xfrm>
        </p:grpSpPr>
        <p:sp>
          <p:nvSpPr>
            <p:cNvPr id="16" name="Rectangle 16"/>
            <p:cNvSpPr/>
            <p:nvPr/>
          </p:nvSpPr>
          <p:spPr>
            <a:xfrm>
              <a:off x="533400" y="4191000"/>
              <a:ext cx="7086600" cy="1257300"/>
            </a:xfrm>
            <a:prstGeom prst="roundRect">
              <a:avLst>
                <a:gd name="adj" fmla="val 7576"/>
              </a:avLst>
            </a:prstGeom>
            <a:solidFill>
              <a:srgbClr val="0F33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5142" y="4330700"/>
              <a:ext cx="35044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我们的办法：物理模型估算 + 机器学习纠偏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4629150"/>
              <a:ext cx="3048000" cy="628650"/>
            </a:xfrm>
            <a:prstGeom prst="roundRect">
              <a:avLst>
                <a:gd name="adj" fmla="val 12121"/>
              </a:avLst>
            </a:prstGeom>
            <a:solidFill>
              <a:schemeClr val="lt2"/>
            </a:solidFill>
            <a:ln w="9525">
              <a:solidFill>
                <a:schemeClr val="accent1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4381500" y="4629150"/>
              <a:ext cx="3009900" cy="628650"/>
            </a:xfrm>
            <a:prstGeom prst="roundRect">
              <a:avLst>
                <a:gd name="adj" fmla="val 1212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3924300" y="4819650"/>
              <a:ext cx="342900" cy="24765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945642" y="4711700"/>
              <a:ext cx="4360164" cy="264033"/>
              <a:chOff x="945642" y="4711700"/>
              <a:chExt cx="4360164" cy="264033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945642" y="4711700"/>
                <a:ext cx="11635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一阶RC + EKF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565142" y="4711700"/>
                <a:ext cx="7406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0B1622"/>
                    </a:solidFill>
                    <a:latin typeface="+mn-lt"/>
                    <a:ea typeface="+mn-ea"/>
                    <a:cs typeface="+mn-cs"/>
                  </a:rPr>
                  <a:t>随机森林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946404" y="4991100"/>
              <a:ext cx="5954268" cy="234696"/>
              <a:chOff x="946404" y="4991100"/>
              <a:chExt cx="5954268" cy="234696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946404" y="4991100"/>
                <a:ext cx="22738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按电池物理规律估算并实时校准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565904" y="4991100"/>
                <a:ext cx="2334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0B1622"/>
                    </a:solidFill>
                    <a:latin typeface="+mn-lt"/>
                    <a:ea typeface="+mn-ea"/>
                    <a:cs typeface="+mn-cs"/>
                  </a:rPr>
                  <a:t>学习 EKF 常犯的错，再帮它改正</a:t>
                </a:r>
              </a:p>
            </p:txBody>
          </p:sp>
        </p:grpSp>
      </p:grpSp>
      <p:grpSp>
        <p:nvGrpSpPr>
          <p:cNvPr id="31" name="evidence"/>
          <p:cNvGrpSpPr/>
          <p:nvPr/>
        </p:nvGrpSpPr>
        <p:grpSpPr>
          <a:xfrm>
            <a:off x="8051292" y="1181100"/>
            <a:ext cx="3607308" cy="4766183"/>
            <a:chOff x="8051292" y="1181100"/>
            <a:chExt cx="3607308" cy="4766183"/>
          </a:xfrm>
        </p:grpSpPr>
        <p:sp>
          <p:nvSpPr>
            <p:cNvPr id="28" name="Rectangle 28"/>
            <p:cNvSpPr/>
            <p:nvPr/>
          </p:nvSpPr>
          <p:spPr>
            <a:xfrm>
              <a:off x="8058150" y="1181100"/>
              <a:ext cx="3600450" cy="4362450"/>
            </a:xfrm>
            <a:prstGeom prst="roundRect">
              <a:avLst>
                <a:gd name="adj" fmla="val 2646"/>
              </a:avLst>
            </a:prstGeom>
            <a:solidFill>
              <a:srgbClr val="F4F7FA"/>
            </a:solidFill>
            <a:ln w="14288">
              <a:solidFill>
                <a:schemeClr val="accent1">
                  <a:alpha val="60000"/>
                </a:schemeClr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53400" y="1276350"/>
              <a:ext cx="3409950" cy="4171950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8051292" y="5683250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实测：电流一直在跳，电量却平稳下降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noFill/>
          <a:ln w="9525">
            <a:solidFill>
              <a:schemeClr val="accent6">
                <a:alpha val="30000"/>
              </a:scheme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7424" y="6159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问题　</a:t>
            </a:r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数据</a:t>
            </a:r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　算法　结论　意义</a:t>
            </a:r>
          </a:p>
        </p:txBody>
      </p:sp>
      <p:grpSp>
        <p:nvGrpSpPr>
          <p:cNvPr id="5" name="title"/>
          <p:cNvGrpSpPr/>
          <p:nvPr/>
        </p:nvGrpSpPr>
        <p:grpSpPr>
          <a:xfrm>
            <a:off x="519684" y="508000"/>
            <a:ext cx="3438738" cy="528066"/>
            <a:chOff x="519684" y="508000"/>
            <a:chExt cx="3438738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19684" y="508000"/>
              <a:ext cx="343873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数据来源与参考 SOC</a:t>
              </a:r>
            </a:p>
          </p:txBody>
        </p:sp>
      </p:grpSp>
      <p:grpSp>
        <p:nvGrpSpPr>
          <p:cNvPr id="8" name="lead"/>
          <p:cNvGrpSpPr/>
          <p:nvPr/>
        </p:nvGrpSpPr>
        <p:grpSpPr>
          <a:xfrm>
            <a:off x="526161" y="1136650"/>
            <a:ext cx="6963941" cy="526796"/>
            <a:chOff x="526161" y="1136650"/>
            <a:chExt cx="6963941" cy="526796"/>
          </a:xfrm>
        </p:grpSpPr>
        <p:sp>
          <p:nvSpPr>
            <p:cNvPr id="6" name="TextBox 6"/>
            <p:cNvSpPr txBox="1"/>
            <p:nvPr/>
          </p:nvSpPr>
          <p:spPr>
            <a:xfrm>
              <a:off x="526161" y="1136650"/>
              <a:ext cx="51404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公开的锂电池实测数据：LG 18650HG2 单节电池，25℃ 环境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27304" y="1428750"/>
              <a:ext cx="69627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Kollmeyer, Naguib, Skells · Mendeley Data v2 · DOI:10.17632/b5mj79w5w9.2 · CC BY 4.0</a:t>
              </a:r>
            </a:p>
          </p:txBody>
        </p:sp>
      </p:grpSp>
      <p:grpSp>
        <p:nvGrpSpPr>
          <p:cNvPr id="31" name="split"/>
          <p:cNvGrpSpPr/>
          <p:nvPr/>
        </p:nvGrpSpPr>
        <p:grpSpPr>
          <a:xfrm>
            <a:off x="533400" y="1771650"/>
            <a:ext cx="7086600" cy="882396"/>
            <a:chOff x="533400" y="1771650"/>
            <a:chExt cx="7086600" cy="882396"/>
          </a:xfrm>
        </p:grpSpPr>
        <p:grpSp>
          <p:nvGrpSpPr>
            <p:cNvPr id="17" name="Group 17"/>
            <p:cNvGrpSpPr/>
            <p:nvPr/>
          </p:nvGrpSpPr>
          <p:grpSpPr>
            <a:xfrm>
              <a:off x="533400" y="1771650"/>
              <a:ext cx="7086600" cy="514350"/>
              <a:chOff x="533400" y="1771650"/>
              <a:chExt cx="7086600" cy="5143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3340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142875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232410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321945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1"/>
                </a:solidFill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411480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501015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3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590550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6800850" y="1771650"/>
                <a:ext cx="819150" cy="514350"/>
              </a:xfrm>
              <a:prstGeom prst="roundRect">
                <a:avLst>
                  <a:gd name="adj" fmla="val 11111"/>
                </a:avLst>
              </a:prstGeom>
              <a:solidFill>
                <a:schemeClr val="lt2"/>
              </a:solidFill>
              <a:ln w="14288">
                <a:solidFill>
                  <a:schemeClr val="accent2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667314" y="1946275"/>
              <a:ext cx="6818772" cy="234696"/>
              <a:chOff x="667314" y="1946275"/>
              <a:chExt cx="6818772" cy="234696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66731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Mixed1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56266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245801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Mixed3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35336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24871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Mixed5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14406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Mixed6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03941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Mixed7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934764" y="1946275"/>
                <a:ext cx="5513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</a:rPr>
                  <a:t>Mixed8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1536196" y="2419350"/>
              <a:ext cx="5976358" cy="234696"/>
              <a:chOff x="1536196" y="2419350"/>
              <a:chExt cx="5976358" cy="234696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536196" y="2419350"/>
                <a:ext cx="1499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训练 4 条：用来学习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222246" y="2419350"/>
                <a:ext cx="1499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rPr>
                  <a:t>验证 2 条：挑选方案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012946" y="2419350"/>
                <a:ext cx="14996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测试 2 条：期末考试</a:t>
                </a:r>
              </a:p>
            </p:txBody>
          </p:sp>
        </p:grpSp>
      </p:grpSp>
      <p:grpSp>
        <p:nvGrpSpPr>
          <p:cNvPr id="35" name="formula"/>
          <p:cNvGrpSpPr/>
          <p:nvPr/>
        </p:nvGrpSpPr>
        <p:grpSpPr>
          <a:xfrm>
            <a:off x="533400" y="2857500"/>
            <a:ext cx="7086600" cy="952500"/>
            <a:chOff x="533400" y="2857500"/>
            <a:chExt cx="7086600" cy="952500"/>
          </a:xfrm>
        </p:grpSpPr>
        <p:sp>
          <p:nvSpPr>
            <p:cNvPr id="32" name="Rectangle 32"/>
            <p:cNvSpPr/>
            <p:nvPr/>
          </p:nvSpPr>
          <p:spPr>
            <a:xfrm>
              <a:off x="533400" y="2857500"/>
              <a:ext cx="7086600" cy="95250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52856" y="3060700"/>
              <a:ext cx="552811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参考 SOC = 1 − 已放出电量 / 总容量 </a:t>
              </a:r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2.72639 Ah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5904" y="3448050"/>
              <a:ext cx="406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当作“标准答案”：从满电开始，用仪器累计的放电量计算</a:t>
              </a:r>
            </a:p>
          </p:txBody>
        </p:sp>
      </p:grpSp>
      <p:grpSp>
        <p:nvGrpSpPr>
          <p:cNvPr id="44" name="points"/>
          <p:cNvGrpSpPr/>
          <p:nvPr/>
        </p:nvGrpSpPr>
        <p:grpSpPr>
          <a:xfrm>
            <a:off x="571500" y="4127500"/>
            <a:ext cx="6352972" cy="1345502"/>
            <a:chOff x="571500" y="4127500"/>
            <a:chExt cx="6352972" cy="1345502"/>
          </a:xfrm>
        </p:grpSpPr>
        <p:grpSp>
          <p:nvGrpSpPr>
            <p:cNvPr id="39" name="Group 39"/>
            <p:cNvGrpSpPr/>
            <p:nvPr/>
          </p:nvGrpSpPr>
          <p:grpSpPr>
            <a:xfrm>
              <a:off x="571500" y="4191000"/>
              <a:ext cx="95250" cy="1162050"/>
              <a:chOff x="571500" y="4191000"/>
              <a:chExt cx="95250" cy="116205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571500" y="4191000"/>
                <a:ext cx="95250" cy="9525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Rectangle 37"/>
              <p:cNvSpPr/>
              <p:nvPr/>
            </p:nvSpPr>
            <p:spPr>
              <a:xfrm>
                <a:off x="571500" y="4724400"/>
                <a:ext cx="95250" cy="9525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571500" y="5257800"/>
                <a:ext cx="95250" cy="95250"/>
              </a:xfrm>
              <a:prstGeom prst="roundRect">
                <a:avLst>
                  <a:gd name="adj" fmla="val 2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</p:grpSp>
        <p:grpSp>
          <p:nvGrpSpPr>
            <p:cNvPr id="43" name="Group 43"/>
            <p:cNvGrpSpPr/>
            <p:nvPr/>
          </p:nvGrpSpPr>
          <p:grpSpPr>
            <a:xfrm>
              <a:off x="792861" y="4127500"/>
              <a:ext cx="6131611" cy="1345502"/>
              <a:chOff x="792861" y="4127500"/>
              <a:chExt cx="6131611" cy="1345502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792861" y="4127500"/>
                <a:ext cx="55485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起点满电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每次实验前都充满电并静置约1小时，起点可看作100%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92861" y="4660900"/>
                <a:ext cx="613161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不许偷看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按整条记录分组，测试数据绝不用来调参，像考题不提前泄露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92861" y="5194300"/>
                <a:ext cx="555813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答案有误差</a:t>
                </a:r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 xml:space="preserve">　参考值是算出来的，不是绝对真值，本身有一定误差</a:t>
                </a:r>
              </a:p>
            </p:txBody>
          </p:sp>
        </p:grpSp>
      </p:grpSp>
      <p:grpSp>
        <p:nvGrpSpPr>
          <p:cNvPr id="64" name="file-use"/>
          <p:cNvGrpSpPr/>
          <p:nvPr/>
        </p:nvGrpSpPr>
        <p:grpSpPr>
          <a:xfrm>
            <a:off x="8058150" y="1181100"/>
            <a:ext cx="3600450" cy="4362450"/>
            <a:chOff x="8058150" y="1181100"/>
            <a:chExt cx="3600450" cy="4362450"/>
          </a:xfrm>
        </p:grpSpPr>
        <p:sp>
          <p:nvSpPr>
            <p:cNvPr id="45" name="Rectangle 45"/>
            <p:cNvSpPr/>
            <p:nvPr/>
          </p:nvSpPr>
          <p:spPr>
            <a:xfrm>
              <a:off x="8058150" y="1181100"/>
              <a:ext cx="3600450" cy="4362450"/>
            </a:xfrm>
            <a:prstGeom prst="roundRect">
              <a:avLst>
                <a:gd name="adj" fmla="val 2646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80654" y="137160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这些数据分别用来干什么</a:t>
              </a: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8286750" y="2438400"/>
              <a:ext cx="3143250" cy="2181225"/>
              <a:chOff x="8286750" y="2438400"/>
              <a:chExt cx="3143250" cy="218122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8286750" y="2438400"/>
                <a:ext cx="3143250" cy="95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8286750" y="3162300"/>
                <a:ext cx="3143250" cy="95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9" name="Rectangle 49"/>
              <p:cNvSpPr/>
              <p:nvPr/>
            </p:nvSpPr>
            <p:spPr>
              <a:xfrm>
                <a:off x="8286750" y="3886200"/>
                <a:ext cx="3143250" cy="95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50" name="Rectangle 50"/>
              <p:cNvSpPr/>
              <p:nvPr/>
            </p:nvSpPr>
            <p:spPr>
              <a:xfrm>
                <a:off x="8286750" y="4610100"/>
                <a:ext cx="3143250" cy="9525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8280654" y="1860550"/>
              <a:ext cx="1684553" cy="3130296"/>
              <a:chOff x="8280654" y="1860550"/>
              <a:chExt cx="1684553" cy="3130296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8280654" y="1860550"/>
                <a:ext cx="166337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容量测试 551_Cap_1C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280654" y="2584450"/>
                <a:ext cx="16845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慢放电 549_C20DisCh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280654" y="3308350"/>
                <a:ext cx="15032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脉冲测试 549_HPPC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280654" y="4032250"/>
                <a:ext cx="146706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动态工况 Mixed1–8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280654" y="4756150"/>
                <a:ext cx="12861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Consolas"/>
                    <a:ea typeface="Microsoft YaHei"/>
                    <a:cs typeface="Consolas"/>
                  </a:rPr>
                  <a:t>充电记录 Charge</a:t>
                </a: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280654" y="2095500"/>
              <a:ext cx="2435352" cy="3130296"/>
              <a:chOff x="8280654" y="2095500"/>
              <a:chExt cx="2435352" cy="3130296"/>
            </a:xfrm>
          </p:grpSpPr>
          <p:sp>
            <p:nvSpPr>
              <p:cNvPr id="58" name="TextBox 58"/>
              <p:cNvSpPr txBox="1"/>
              <p:nvPr/>
            </p:nvSpPr>
            <p:spPr>
              <a:xfrm>
                <a:off x="8280654" y="2095500"/>
                <a:ext cx="20649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测出电池总容量 2.72639 Ah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280654" y="2819400"/>
                <a:ext cx="18941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得到“电压—电量”对照曲线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280654" y="3543300"/>
                <a:ext cx="228996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测电池内阻等参数（42个脉冲）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280654" y="4267200"/>
                <a:ext cx="243535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模拟真实使用：训练、验证、测试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280654" y="4991100"/>
                <a:ext cx="17891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确认每次实验从满电开始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noFill/>
          <a:ln w="9525">
            <a:solidFill>
              <a:schemeClr val="accent6">
                <a:alpha val="30000"/>
              </a:scheme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7424" y="6159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问题　数据　</a:t>
            </a:r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算法</a:t>
            </a:r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　结论　意义</a:t>
            </a:r>
          </a:p>
        </p:txBody>
      </p:sp>
      <p:grpSp>
        <p:nvGrpSpPr>
          <p:cNvPr id="5" name="title"/>
          <p:cNvGrpSpPr/>
          <p:nvPr/>
        </p:nvGrpSpPr>
        <p:grpSpPr>
          <a:xfrm>
            <a:off x="519684" y="508000"/>
            <a:ext cx="5961797" cy="528066"/>
            <a:chOff x="519684" y="508000"/>
            <a:chExt cx="5961797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19684" y="508000"/>
              <a:ext cx="596179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第一步：物理模型估算（RC + EKF）</a:t>
              </a:r>
            </a:p>
          </p:txBody>
        </p:sp>
      </p:grpSp>
      <p:grpSp>
        <p:nvGrpSpPr>
          <p:cNvPr id="11" name="state-eq"/>
          <p:cNvGrpSpPr/>
          <p:nvPr/>
        </p:nvGrpSpPr>
        <p:grpSpPr>
          <a:xfrm>
            <a:off x="533400" y="1181100"/>
            <a:ext cx="5715000" cy="1428750"/>
            <a:chOff x="533400" y="1181100"/>
            <a:chExt cx="5715000" cy="1428750"/>
          </a:xfrm>
        </p:grpSpPr>
        <p:sp>
          <p:nvSpPr>
            <p:cNvPr id="6" name="Rectangle 6"/>
            <p:cNvSpPr/>
            <p:nvPr/>
          </p:nvSpPr>
          <p:spPr>
            <a:xfrm>
              <a:off x="533400" y="1181100"/>
              <a:ext cx="5715000" cy="1428750"/>
            </a:xfrm>
            <a:prstGeom prst="roundRect">
              <a:avLst>
                <a:gd name="adj" fmla="val 6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333500"/>
              <a:ext cx="38892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电量怎么变：用掉多少电就减多少；极化电压慢慢恢复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753618" y="1701800"/>
              <a:ext cx="4792283" cy="741807"/>
              <a:chOff x="753618" y="1701800"/>
              <a:chExt cx="4792283" cy="741807"/>
            </a:xfrm>
          </p:grpSpPr>
          <p:sp>
            <p:nvSpPr>
              <p:cNvPr id="8" name="TextBox 8"/>
              <p:cNvSpPr txBox="1"/>
              <p:nvPr/>
            </p:nvSpPr>
            <p:spPr>
              <a:xfrm>
                <a:off x="753618" y="1701800"/>
                <a:ext cx="372843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l-GR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SOCₖ = SOCₖ₋₁ − Ī·Δt / (3600·Q)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3618" y="2120900"/>
                <a:ext cx="479228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Upₖ = a·Upₖ₋₁ + R₁(1 − a)·Ī， a = e^(−Δt/τ)</a:t>
                </a:r>
              </a:p>
            </p:txBody>
          </p:sp>
        </p:grpSp>
      </p:grpSp>
      <p:grpSp>
        <p:nvGrpSpPr>
          <p:cNvPr id="15" name="obs-eq"/>
          <p:cNvGrpSpPr/>
          <p:nvPr/>
        </p:nvGrpSpPr>
        <p:grpSpPr>
          <a:xfrm>
            <a:off x="533400" y="2800350"/>
            <a:ext cx="5715000" cy="990600"/>
            <a:chOff x="533400" y="2800350"/>
            <a:chExt cx="5715000" cy="990600"/>
          </a:xfrm>
        </p:grpSpPr>
        <p:sp>
          <p:nvSpPr>
            <p:cNvPr id="12" name="Rectangle 12"/>
            <p:cNvSpPr/>
            <p:nvPr/>
          </p:nvSpPr>
          <p:spPr>
            <a:xfrm>
              <a:off x="533400" y="2800350"/>
              <a:ext cx="5715000" cy="990600"/>
            </a:xfrm>
            <a:prstGeom prst="roundRect">
              <a:avLst>
                <a:gd name="adj" fmla="val 961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55904" y="2952750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电压怎么算：开路电压减去内阻和极化造成的损失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3618" y="3321050"/>
              <a:ext cx="32981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Vₖ = OCV(SOCₖ) − Iₖ·R₀ − Upₖ</a:t>
              </a:r>
            </a:p>
          </p:txBody>
        </p:sp>
      </p:grpSp>
      <p:grpSp>
        <p:nvGrpSpPr>
          <p:cNvPr id="27" name="ekf-loop"/>
          <p:cNvGrpSpPr/>
          <p:nvPr/>
        </p:nvGrpSpPr>
        <p:grpSpPr>
          <a:xfrm>
            <a:off x="526542" y="4502150"/>
            <a:ext cx="5874258" cy="1041400"/>
            <a:chOff x="526542" y="4502150"/>
            <a:chExt cx="5874258" cy="1041400"/>
          </a:xfrm>
        </p:grpSpPr>
        <p:sp>
          <p:nvSpPr>
            <p:cNvPr id="16" name="TextBox 16"/>
            <p:cNvSpPr txBox="1"/>
            <p:nvPr/>
          </p:nvSpPr>
          <p:spPr>
            <a:xfrm>
              <a:off x="526542" y="4502150"/>
              <a:ext cx="3132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EKF 像导航：每一步都用实测电压校准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4838700"/>
              <a:ext cx="1771650" cy="49530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705100" y="4838700"/>
              <a:ext cx="1581150" cy="495300"/>
            </a:xfrm>
            <a:prstGeom prst="roundRect">
              <a:avLst>
                <a:gd name="adj" fmla="val 153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686300" y="4838700"/>
              <a:ext cx="1714500" cy="495300"/>
            </a:xfrm>
            <a:prstGeom prst="roundRect">
              <a:avLst>
                <a:gd name="adj" fmla="val 15385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362200" y="4972050"/>
              <a:ext cx="285750" cy="22860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343400" y="4972050"/>
              <a:ext cx="285750" cy="22860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1419225" y="5334000"/>
              <a:ext cx="4124325" cy="209550"/>
            </a:xfrm>
            <a:custGeom>
              <a:avLst/>
              <a:gdLst/>
              <a:ahLst/>
              <a:cxnLst/>
              <a:rect l="l" t="t" r="r" b="b"/>
              <a:pathLst>
                <a:path w="4124325" h="209550">
                  <a:moveTo>
                    <a:pt x="4124325" y="0"/>
                  </a:moveTo>
                  <a:lnTo>
                    <a:pt x="4124325" y="209550"/>
                  </a:lnTo>
                  <a:lnTo>
                    <a:pt x="0" y="209550"/>
                  </a:lnTo>
                  <a:lnTo>
                    <a:pt x="0" y="57150"/>
                  </a:lnTo>
                </a:path>
              </a:pathLst>
            </a:custGeom>
            <a:noFill/>
            <a:ln w="14288">
              <a:solidFill>
                <a:schemeClr val="accent1"/>
              </a:solidFill>
              <a:prstDash val="lgDash"/>
              <a:tailEnd type="triangle" w="lg" len="lg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876924" y="4978400"/>
              <a:ext cx="5208926" cy="264033"/>
              <a:chOff x="876924" y="4978400"/>
              <a:chExt cx="5208926" cy="264033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876924" y="4978400"/>
                <a:ext cx="10846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① 按模型预测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862506" y="4978400"/>
                <a:ext cx="12663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B1622"/>
                    </a:solidFill>
                    <a:latin typeface="+mn-lt"/>
                    <a:ea typeface="+mn-ea"/>
                    <a:cs typeface="+mn-cs"/>
                  </a:rPr>
                  <a:t>② 对比实测电压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001249" y="4978400"/>
                <a:ext cx="10846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③ 按差距修正</a:t>
                </a:r>
              </a:p>
            </p:txBody>
          </p:sp>
        </p:grpSp>
      </p:grpSp>
      <p:grpSp>
        <p:nvGrpSpPr>
          <p:cNvPr id="31" name="ocv-figure"/>
          <p:cNvGrpSpPr/>
          <p:nvPr/>
        </p:nvGrpSpPr>
        <p:grpSpPr>
          <a:xfrm>
            <a:off x="6661404" y="1181100"/>
            <a:ext cx="4997196" cy="3035046"/>
            <a:chOff x="6661404" y="1181100"/>
            <a:chExt cx="4997196" cy="3035046"/>
          </a:xfrm>
        </p:grpSpPr>
        <p:sp>
          <p:nvSpPr>
            <p:cNvPr id="28" name="Rectangle 28"/>
            <p:cNvSpPr/>
            <p:nvPr/>
          </p:nvSpPr>
          <p:spPr>
            <a:xfrm>
              <a:off x="6667500" y="1181100"/>
              <a:ext cx="4991100" cy="2695575"/>
            </a:xfrm>
            <a:prstGeom prst="roundRect">
              <a:avLst>
                <a:gd name="adj" fmla="val 3534"/>
              </a:avLst>
            </a:prstGeom>
            <a:solidFill>
              <a:srgbClr val="F4F7FA"/>
            </a:solidFill>
            <a:ln w="14288">
              <a:solidFill>
                <a:schemeClr val="accent1">
                  <a:alpha val="60000"/>
                </a:schemeClr>
              </a:solidFill>
            </a:ln>
          </p:spPr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62750" y="1276350"/>
              <a:ext cx="4800600" cy="2505075"/>
            </a:xfrm>
            <a:prstGeom prst="rect">
              <a:avLst/>
            </a:prstGeom>
          </p:spPr>
        </p:pic>
        <p:sp>
          <p:nvSpPr>
            <p:cNvPr id="30" name="TextBox 30"/>
            <p:cNvSpPr txBox="1"/>
            <p:nvPr/>
          </p:nvSpPr>
          <p:spPr>
            <a:xfrm>
              <a:off x="6661404" y="3981450"/>
              <a:ext cx="31865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“电压—电量”对照曲线（小电流慢放电测得）</a:t>
              </a:r>
            </a:p>
          </p:txBody>
        </p:sp>
      </p:grpSp>
      <p:grpSp>
        <p:nvGrpSpPr>
          <p:cNvPr id="45" name="params"/>
          <p:cNvGrpSpPr/>
          <p:nvPr/>
        </p:nvGrpSpPr>
        <p:grpSpPr>
          <a:xfrm>
            <a:off x="6661404" y="4343400"/>
            <a:ext cx="4997196" cy="1377696"/>
            <a:chOff x="6661404" y="4343400"/>
            <a:chExt cx="4997196" cy="1377696"/>
          </a:xfrm>
        </p:grpSpPr>
        <p:grpSp>
          <p:nvGrpSpPr>
            <p:cNvPr id="35" name="Group 35"/>
            <p:cNvGrpSpPr/>
            <p:nvPr/>
          </p:nvGrpSpPr>
          <p:grpSpPr>
            <a:xfrm>
              <a:off x="6667500" y="4343400"/>
              <a:ext cx="4991100" cy="952500"/>
              <a:chOff x="6667500" y="4343400"/>
              <a:chExt cx="4991100" cy="9525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6667500" y="4343400"/>
                <a:ext cx="1562100" cy="952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8382000" y="4343400"/>
                <a:ext cx="1562100" cy="952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10096500" y="4343400"/>
                <a:ext cx="1562100" cy="952500"/>
              </a:xfrm>
              <a:prstGeom prst="roundRect">
                <a:avLst>
                  <a:gd name="adj" fmla="val 10000"/>
                </a:avLst>
              </a:prstGeom>
              <a:solidFill>
                <a:schemeClr val="lt2"/>
              </a:solidFill>
              <a:ln w="9525">
                <a:solidFill>
                  <a:schemeClr val="accent6"/>
                </a:solidFill>
              </a:ln>
            </p:spPr>
          </p:sp>
        </p:grpSp>
        <p:grpSp>
          <p:nvGrpSpPr>
            <p:cNvPr id="39" name="Group 39"/>
            <p:cNvGrpSpPr/>
            <p:nvPr/>
          </p:nvGrpSpPr>
          <p:grpSpPr>
            <a:xfrm>
              <a:off x="6851904" y="4476750"/>
              <a:ext cx="4547768" cy="234696"/>
              <a:chOff x="6851904" y="4476750"/>
              <a:chExt cx="4547768" cy="234696"/>
            </a:xfrm>
          </p:grpSpPr>
          <p:sp>
            <p:nvSpPr>
              <p:cNvPr id="36" name="TextBox 36"/>
              <p:cNvSpPr txBox="1"/>
              <p:nvPr/>
            </p:nvSpPr>
            <p:spPr>
              <a:xfrm>
                <a:off x="6851904" y="4476750"/>
                <a:ext cx="5742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R₀ 内阻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566404" y="4476750"/>
                <a:ext cx="89733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R₁ 极化电阻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0280904" y="4476750"/>
                <a:ext cx="11187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τ 恢复时间常数</a:t>
                </a: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6845046" y="4781550"/>
              <a:ext cx="4576629" cy="498729"/>
              <a:chOff x="6845046" y="4781550"/>
              <a:chExt cx="4576629" cy="498729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6845046" y="4781550"/>
                <a:ext cx="1432827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17.907</a:t>
                </a:r>
                <a:r>
                  <a:rPr lang="el-GR" sz="1200" b="1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 xml:space="preserve"> mΩ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559546" y="4781550"/>
                <a:ext cx="1244022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7.123</a:t>
                </a:r>
                <a:r>
                  <a:rPr lang="el-GR" sz="1200" b="1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 xml:space="preserve"> mΩ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274046" y="4781550"/>
                <a:ext cx="1147629" cy="4987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5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8.771</a:t>
                </a:r>
                <a:r>
                  <a:rPr lang="en-US" sz="1200" b="1" dirty="0">
                    <a:solidFill>
                      <a:schemeClr val="accent5"/>
                    </a:solidFill>
                    <a:latin typeface="Consolas"/>
                    <a:ea typeface="Consolas"/>
                    <a:cs typeface="Consolas"/>
                  </a:rPr>
                  <a:t xml:space="preserve"> s</a:t>
                </a:r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6661404" y="5486400"/>
              <a:ext cx="416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由 42 个脉冲测试求得；没考虑温度影响，所以会留下误差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noFill/>
          <a:ln w="9525">
            <a:solidFill>
              <a:schemeClr val="accent6">
                <a:alpha val="30000"/>
              </a:scheme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7424" y="6159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问题　数据　</a:t>
            </a:r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算法</a:t>
            </a:r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　结论　意义</a:t>
            </a:r>
          </a:p>
        </p:txBody>
      </p:sp>
      <p:grpSp>
        <p:nvGrpSpPr>
          <p:cNvPr id="5" name="title"/>
          <p:cNvGrpSpPr/>
          <p:nvPr/>
        </p:nvGrpSpPr>
        <p:grpSpPr>
          <a:xfrm>
            <a:off x="519684" y="508000"/>
            <a:ext cx="5843016" cy="528066"/>
            <a:chOff x="519684" y="508000"/>
            <a:chExt cx="5843016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19684" y="508000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第二步：机器学习纠偏（随机森林）</a:t>
              </a:r>
            </a:p>
          </p:txBody>
        </p:sp>
      </p:grpSp>
      <p:grpSp>
        <p:nvGrpSpPr>
          <p:cNvPr id="28" name="flow"/>
          <p:cNvGrpSpPr/>
          <p:nvPr/>
        </p:nvGrpSpPr>
        <p:grpSpPr>
          <a:xfrm>
            <a:off x="533400" y="1333500"/>
            <a:ext cx="11125200" cy="781050"/>
            <a:chOff x="533400" y="1333500"/>
            <a:chExt cx="11125200" cy="781050"/>
          </a:xfrm>
        </p:grpSpPr>
        <p:sp>
          <p:nvSpPr>
            <p:cNvPr id="6" name="Rectangle 6"/>
            <p:cNvSpPr/>
            <p:nvPr/>
          </p:nvSpPr>
          <p:spPr>
            <a:xfrm>
              <a:off x="533400" y="1333500"/>
              <a:ext cx="1905000" cy="781050"/>
            </a:xfrm>
            <a:prstGeom prst="roundRect">
              <a:avLst>
                <a:gd name="adj" fmla="val 12195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838450" y="1333500"/>
              <a:ext cx="1905000" cy="781050"/>
            </a:xfrm>
            <a:prstGeom prst="roundRect">
              <a:avLst>
                <a:gd name="adj" fmla="val 12195"/>
              </a:avLst>
            </a:prstGeom>
            <a:solidFill>
              <a:schemeClr val="lt2"/>
            </a:solidFill>
            <a:ln w="14288">
              <a:solidFill>
                <a:schemeClr val="accent3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143500" y="1333500"/>
              <a:ext cx="1905000" cy="781050"/>
            </a:xfrm>
            <a:prstGeom prst="roundRect">
              <a:avLst>
                <a:gd name="adj" fmla="val 12195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448550" y="1333500"/>
              <a:ext cx="1905000" cy="781050"/>
            </a:xfrm>
            <a:prstGeom prst="roundRect">
              <a:avLst>
                <a:gd name="adj" fmla="val 121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9753600" y="1333500"/>
              <a:ext cx="1905000" cy="781050"/>
            </a:xfrm>
            <a:prstGeom prst="roundRect">
              <a:avLst>
                <a:gd name="adj" fmla="val 121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486025" y="1600200"/>
              <a:ext cx="304800" cy="24765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4791075" y="1600200"/>
              <a:ext cx="304800" cy="24765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7096125" y="1600200"/>
              <a:ext cx="304800" cy="24765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9401175" y="1600200"/>
              <a:ext cx="304800" cy="247650"/>
            </a:xfrm>
            <a:prstGeom prst="rightArrow">
              <a:avLst/>
            </a:prstGeom>
            <a:solidFill>
              <a:schemeClr val="accent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833628" y="1511300"/>
              <a:ext cx="10541736" cy="495046"/>
              <a:chOff x="833628" y="1511300"/>
              <a:chExt cx="10541736" cy="495046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1297305" y="1511300"/>
                <a:ext cx="9814137" cy="264033"/>
                <a:chOff x="1297305" y="1511300"/>
                <a:chExt cx="9814137" cy="264033"/>
              </a:xfrm>
            </p:grpSpPr>
            <p:sp>
              <p:nvSpPr>
                <p:cNvPr id="15" name="TextBox 15"/>
                <p:cNvSpPr txBox="1"/>
                <p:nvPr/>
              </p:nvSpPr>
              <p:spPr>
                <a:xfrm>
                  <a:off x="1297305" y="1511300"/>
                  <a:ext cx="377190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测量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3617751" y="1511300"/>
                  <a:ext cx="346398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EKF</a:t>
                  </a:r>
                </a:p>
              </p:txBody>
            </p:sp>
            <p:sp>
              <p:nvSpPr>
                <p:cNvPr id="17" name="TextBox 17"/>
                <p:cNvSpPr txBox="1"/>
                <p:nvPr/>
              </p:nvSpPr>
              <p:spPr>
                <a:xfrm>
                  <a:off x="5553699" y="1511300"/>
                  <a:ext cx="1084601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7 个输入信息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8030718" y="1511300"/>
                  <a:ext cx="74066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B1622"/>
                      </a:solidFill>
                      <a:latin typeface="+mn-lt"/>
                      <a:ea typeface="+mn-ea"/>
                      <a:cs typeface="+mn-cs"/>
                    </a:rPr>
                    <a:t>随机森林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0300758" y="1511300"/>
                  <a:ext cx="810684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350" b="1" dirty="0">
                      <a:solidFill>
                        <a:srgbClr val="0B1622"/>
                      </a:solidFill>
                      <a:latin typeface="+mn-lt"/>
                      <a:ea typeface="+mn-ea"/>
                      <a:cs typeface="+mn-cs"/>
                    </a:rPr>
                    <a:t>融合 SOC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833628" y="1771650"/>
                <a:ext cx="10541736" cy="234696"/>
                <a:chOff x="833628" y="1771650"/>
                <a:chExt cx="10541736" cy="234696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833628" y="1771650"/>
                  <a:ext cx="130454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电压、电流、温度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3219450" y="1771650"/>
                  <a:ext cx="114300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先给出一个估计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5399303" y="1771650"/>
                  <a:ext cx="139339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rPr>
                    <a:t>只看现在和过去5秒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799070" y="1771650"/>
                  <a:ext cx="120396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0B1622"/>
                      </a:solidFill>
                      <a:latin typeface="+mn-lt"/>
                      <a:ea typeface="+mn-ea"/>
                      <a:cs typeface="+mn-cs"/>
                    </a:rPr>
                    <a:t>预测 EKF 差多少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0036835" y="1771650"/>
                  <a:ext cx="133852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rgbClr val="0B1622"/>
                      </a:solidFill>
                      <a:latin typeface="+mn-lt"/>
                      <a:ea typeface="+mn-ea"/>
                      <a:cs typeface="+mn-cs"/>
                    </a:rPr>
                    <a:t>EKF 估计 + 修正量</a:t>
                  </a:r>
                </a:p>
              </p:txBody>
            </p:sp>
          </p:grpSp>
        </p:grpSp>
      </p:grpSp>
      <p:grpSp>
        <p:nvGrpSpPr>
          <p:cNvPr id="57" name="feature-importance"/>
          <p:cNvGrpSpPr/>
          <p:nvPr/>
        </p:nvGrpSpPr>
        <p:grpSpPr>
          <a:xfrm>
            <a:off x="533400" y="2400300"/>
            <a:ext cx="6096000" cy="3619500"/>
            <a:chOff x="533400" y="2400300"/>
            <a:chExt cx="6096000" cy="3619500"/>
          </a:xfrm>
        </p:grpSpPr>
        <p:sp>
          <p:nvSpPr>
            <p:cNvPr id="29" name="Rectangle 29"/>
            <p:cNvSpPr/>
            <p:nvPr/>
          </p:nvSpPr>
          <p:spPr>
            <a:xfrm>
              <a:off x="533400" y="2400300"/>
              <a:ext cx="6096000" cy="3619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55904" y="2571750"/>
              <a:ext cx="2885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随机森林最看重哪些信息（重要性，%）</a:t>
              </a:r>
            </a:p>
          </p:txBody>
        </p:sp>
        <p:grpSp>
          <p:nvGrpSpPr>
            <p:cNvPr id="56" name="feature-importance-chartArea"/>
            <p:cNvGrpSpPr/>
            <p:nvPr/>
          </p:nvGrpSpPr>
          <p:grpSpPr>
            <a:xfrm>
              <a:off x="916991" y="2857500"/>
              <a:ext cx="5292852" cy="2495550"/>
              <a:chOff x="916991" y="2857500"/>
              <a:chExt cx="5292852" cy="2495550"/>
            </a:xfrm>
          </p:grpSpPr>
          <p:sp>
            <p:nvSpPr>
              <p:cNvPr id="31" name="Line 31"/>
              <p:cNvSpPr/>
              <p:nvPr/>
            </p:nvSpPr>
            <p:spPr>
              <a:xfrm>
                <a:off x="2095500" y="2857500"/>
                <a:ext cx="9525" cy="24955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495550">
                    <a:moveTo>
                      <a:pt x="0" y="0"/>
                    </a:moveTo>
                    <a:lnTo>
                      <a:pt x="0" y="2495550"/>
                    </a:lnTo>
                  </a:path>
                </a:pathLst>
              </a:custGeom>
              <a:noFill/>
              <a:ln w="14288">
                <a:solidFill>
                  <a:schemeClr val="accent6"/>
                </a:solidFill>
              </a:ln>
            </p:spPr>
          </p:sp>
          <p:grpSp>
            <p:nvGrpSpPr>
              <p:cNvPr id="39" name="Group 39"/>
              <p:cNvGrpSpPr/>
              <p:nvPr/>
            </p:nvGrpSpPr>
            <p:grpSpPr>
              <a:xfrm>
                <a:off x="916991" y="2933700"/>
                <a:ext cx="1070305" cy="2406396"/>
                <a:chOff x="916991" y="2933700"/>
                <a:chExt cx="1070305" cy="2406396"/>
              </a:xfrm>
            </p:grpSpPr>
            <p:sp>
              <p:nvSpPr>
                <p:cNvPr id="32" name="TextBox 32"/>
                <p:cNvSpPr txBox="1"/>
                <p:nvPr/>
              </p:nvSpPr>
              <p:spPr>
                <a:xfrm>
                  <a:off x="1157630" y="2933700"/>
                  <a:ext cx="82966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EKF 估计值</a:t>
                  </a:r>
                </a:p>
              </p:txBody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1328928" y="3295650"/>
                  <a:ext cx="65836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表面温度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1005840" y="3657600"/>
                  <a:ext cx="98145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电压预测偏差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916991" y="4019550"/>
                  <a:ext cx="107030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近5秒平均电流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1490472" y="4381500"/>
                  <a:ext cx="4968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端电压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916991" y="4743450"/>
                  <a:ext cx="107030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近5秒电压变化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1652016" y="510540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电流</a:t>
                  </a:r>
                </a:p>
              </p:txBody>
            </p:sp>
          </p:grpSp>
          <p:sp>
            <p:nvSpPr>
              <p:cNvPr id="40" name="Rectangle 40"/>
              <p:cNvSpPr/>
              <p:nvPr/>
            </p:nvSpPr>
            <p:spPr>
              <a:xfrm>
                <a:off x="2095500" y="2924175"/>
                <a:ext cx="3680460" cy="2095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2095500" y="3286125"/>
                <a:ext cx="3499485" cy="2095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47" name="Group 47"/>
              <p:cNvGrpSpPr/>
              <p:nvPr/>
            </p:nvGrpSpPr>
            <p:grpSpPr>
              <a:xfrm>
                <a:off x="2095500" y="3648075"/>
                <a:ext cx="130492" cy="1657350"/>
                <a:chOff x="2095500" y="3648075"/>
                <a:chExt cx="130492" cy="1657350"/>
              </a:xfrm>
            </p:grpSpPr>
            <p:sp>
              <p:nvSpPr>
                <p:cNvPr id="42" name="Rectangle 42"/>
                <p:cNvSpPr/>
                <p:nvPr/>
              </p:nvSpPr>
              <p:spPr>
                <a:xfrm>
                  <a:off x="2095500" y="3648075"/>
                  <a:ext cx="130492" cy="209550"/>
                </a:xfrm>
                <a:prstGeom prst="rect">
                  <a:avLst/>
                </a:prstGeom>
                <a:solidFill>
                  <a:schemeClr val="accent1"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3" name="Rectangle 43"/>
                <p:cNvSpPr/>
                <p:nvPr/>
              </p:nvSpPr>
              <p:spPr>
                <a:xfrm>
                  <a:off x="2095500" y="4010025"/>
                  <a:ext cx="123825" cy="209550"/>
                </a:xfrm>
                <a:prstGeom prst="rect">
                  <a:avLst/>
                </a:prstGeom>
                <a:solidFill>
                  <a:schemeClr val="accent1"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4" name="Rectangle 44"/>
                <p:cNvSpPr/>
                <p:nvPr/>
              </p:nvSpPr>
              <p:spPr>
                <a:xfrm>
                  <a:off x="2095500" y="4371975"/>
                  <a:ext cx="116205" cy="209550"/>
                </a:xfrm>
                <a:prstGeom prst="rect">
                  <a:avLst/>
                </a:prstGeom>
                <a:solidFill>
                  <a:schemeClr val="accent1"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5" name="Rectangle 45"/>
                <p:cNvSpPr/>
                <p:nvPr/>
              </p:nvSpPr>
              <p:spPr>
                <a:xfrm>
                  <a:off x="2095500" y="4733925"/>
                  <a:ext cx="54292" cy="209550"/>
                </a:xfrm>
                <a:prstGeom prst="rect">
                  <a:avLst/>
                </a:prstGeom>
                <a:solidFill>
                  <a:schemeClr val="accent1">
                    <a:alpha val="55000"/>
                  </a:schemeClr>
                </a:solidFill>
                <a:ln>
                  <a:noFill/>
                </a:ln>
              </p:spPr>
            </p:sp>
            <p:sp>
              <p:nvSpPr>
                <p:cNvPr id="46" name="Rectangle 46"/>
                <p:cNvSpPr/>
                <p:nvPr/>
              </p:nvSpPr>
              <p:spPr>
                <a:xfrm>
                  <a:off x="2095500" y="5095875"/>
                  <a:ext cx="15240" cy="209550"/>
                </a:xfrm>
                <a:prstGeom prst="rect">
                  <a:avLst/>
                </a:prstGeom>
                <a:solidFill>
                  <a:schemeClr val="accent1">
                    <a:alpha val="55000"/>
                  </a:schemeClr>
                </a:solidFill>
                <a:ln>
                  <a:noFill/>
                </a:ln>
              </p:spPr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2184654" y="2936875"/>
                <a:ext cx="4025189" cy="2406396"/>
                <a:chOff x="2184654" y="2936875"/>
                <a:chExt cx="4025189" cy="2406396"/>
              </a:xfrm>
            </p:grpSpPr>
            <p:sp>
              <p:nvSpPr>
                <p:cNvPr id="48" name="TextBox 48"/>
                <p:cNvSpPr txBox="1"/>
                <p:nvPr/>
              </p:nvSpPr>
              <p:spPr>
                <a:xfrm>
                  <a:off x="5842254" y="293687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2"/>
                      </a:solidFill>
                      <a:latin typeface="Consolas"/>
                      <a:ea typeface="Consolas"/>
                      <a:cs typeface="Consolas"/>
                    </a:rPr>
                    <a:t>48.3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5661279" y="3298825"/>
                  <a:ext cx="36758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2"/>
                      </a:solidFill>
                      <a:latin typeface="Consolas"/>
                      <a:ea typeface="Consolas"/>
                      <a:cs typeface="Consolas"/>
                    </a:rPr>
                    <a:t>45.9</a:t>
                  </a:r>
                </a:p>
              </p:txBody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2298954" y="366077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1.7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2289429" y="402272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1.6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2279904" y="438467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1.5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2222754" y="474662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0.7</a:t>
                  </a:r>
                </a:p>
              </p:txBody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2184654" y="510857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0.2</a:t>
                  </a:r>
                </a:p>
              </p:txBody>
            </p:sp>
          </p:grpSp>
        </p:grpSp>
      </p:grpSp>
      <p:grpSp>
        <p:nvGrpSpPr>
          <p:cNvPr id="71" name="training-rules"/>
          <p:cNvGrpSpPr/>
          <p:nvPr/>
        </p:nvGrpSpPr>
        <p:grpSpPr>
          <a:xfrm>
            <a:off x="6858000" y="2400300"/>
            <a:ext cx="4800600" cy="3619500"/>
            <a:chOff x="6858000" y="2400300"/>
            <a:chExt cx="4800600" cy="3619500"/>
          </a:xfrm>
        </p:grpSpPr>
        <p:sp>
          <p:nvSpPr>
            <p:cNvPr id="58" name="Rectangle 58"/>
            <p:cNvSpPr/>
            <p:nvPr/>
          </p:nvSpPr>
          <p:spPr>
            <a:xfrm>
              <a:off x="6858000" y="2400300"/>
              <a:ext cx="4800600" cy="3619500"/>
            </a:xfrm>
            <a:prstGeom prst="roundRect">
              <a:avLst>
                <a:gd name="adj" fmla="val 2632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080504" y="2571750"/>
              <a:ext cx="819912" cy="2977896"/>
              <a:chOff x="7080504" y="2571750"/>
              <a:chExt cx="819912" cy="2977896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7080504" y="257175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它学什么</a:t>
                </a: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080504" y="325755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模型规模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7080504" y="3943350"/>
                <a:ext cx="8199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怎么防作弊</a:t>
                </a: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7080504" y="462915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不能偷看</a:t>
                </a: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080504" y="5314950"/>
                <a:ext cx="65836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只改结果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7079361" y="2813050"/>
              <a:ext cx="3264205" cy="3021902"/>
              <a:chOff x="7079361" y="2813050"/>
              <a:chExt cx="3264205" cy="3021902"/>
            </a:xfrm>
          </p:grpSpPr>
          <p:sp>
            <p:nvSpPr>
              <p:cNvPr id="65" name="TextBox 65"/>
              <p:cNvSpPr txBox="1"/>
              <p:nvPr/>
            </p:nvSpPr>
            <p:spPr>
              <a:xfrm>
                <a:off x="7079361" y="2813050"/>
                <a:ext cx="287539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参考 SOC 与 EKF 估计之间的差值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079361" y="3498850"/>
                <a:ext cx="212680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120 棵决策树一起“投票”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7079361" y="4184650"/>
                <a:ext cx="32642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 条学习 → 2 条挑方案 → 固定后才考试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7079361" y="4870450"/>
                <a:ext cx="326420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不输入标准答案、累计电量和未来数据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079361" y="5556250"/>
                <a:ext cx="29540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修正只加在输出上，不改 EKF 内部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noFill/>
          <a:ln w="9525">
            <a:solidFill>
              <a:schemeClr val="accent6">
                <a:alpha val="30000"/>
              </a:scheme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7424" y="6159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问题　数据　算法　</a:t>
            </a:r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结论</a:t>
            </a:r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　意义</a:t>
            </a:r>
          </a:p>
        </p:txBody>
      </p:sp>
      <p:grpSp>
        <p:nvGrpSpPr>
          <p:cNvPr id="5" name="title"/>
          <p:cNvGrpSpPr/>
          <p:nvPr/>
        </p:nvGrpSpPr>
        <p:grpSpPr>
          <a:xfrm>
            <a:off x="519684" y="508000"/>
            <a:ext cx="5475907" cy="528066"/>
            <a:chOff x="519684" y="508000"/>
            <a:chExt cx="5475907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19684" y="508000"/>
              <a:ext cx="5475907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测试结果：平均误差降低 </a:t>
              </a:r>
              <a:r>
                <a:rPr lang="zh-CN" sz="27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53.89%</a:t>
              </a:r>
            </a:p>
          </p:txBody>
        </p:sp>
      </p:grpSp>
      <p:grpSp>
        <p:nvGrpSpPr>
          <p:cNvPr id="8" name="soc-figure"/>
          <p:cNvGrpSpPr/>
          <p:nvPr/>
        </p:nvGrpSpPr>
        <p:grpSpPr>
          <a:xfrm>
            <a:off x="533400" y="1181100"/>
            <a:ext cx="6286500" cy="3362325"/>
            <a:chOff x="533400" y="1181100"/>
            <a:chExt cx="6286500" cy="3362325"/>
          </a:xfrm>
        </p:grpSpPr>
        <p:sp>
          <p:nvSpPr>
            <p:cNvPr id="6" name="Rectangle 6"/>
            <p:cNvSpPr/>
            <p:nvPr/>
          </p:nvSpPr>
          <p:spPr>
            <a:xfrm>
              <a:off x="533400" y="1181100"/>
              <a:ext cx="6286500" cy="3362325"/>
            </a:xfrm>
            <a:prstGeom prst="roundRect">
              <a:avLst>
                <a:gd name="adj" fmla="val 2833"/>
              </a:avLst>
            </a:prstGeom>
            <a:solidFill>
              <a:srgbClr val="F4F7FA"/>
            </a:solidFill>
            <a:ln w="14288">
              <a:solidFill>
                <a:schemeClr val="accent1">
                  <a:alpha val="60000"/>
                </a:schemeClr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3412" y="1276350"/>
              <a:ext cx="6086475" cy="3171825"/>
            </a:xfrm>
            <a:prstGeom prst="rect">
              <a:avLst/>
            </a:prstGeom>
          </p:spPr>
        </p:pic>
      </p:grpSp>
      <p:grpSp>
        <p:nvGrpSpPr>
          <p:cNvPr id="45" name="record-rmse"/>
          <p:cNvGrpSpPr/>
          <p:nvPr/>
        </p:nvGrpSpPr>
        <p:grpSpPr>
          <a:xfrm>
            <a:off x="7048500" y="1181100"/>
            <a:ext cx="4610100" cy="3362325"/>
            <a:chOff x="7048500" y="1181100"/>
            <a:chExt cx="4610100" cy="3362325"/>
          </a:xfrm>
        </p:grpSpPr>
        <p:sp>
          <p:nvSpPr>
            <p:cNvPr id="9" name="Rectangle 9"/>
            <p:cNvSpPr/>
            <p:nvPr/>
          </p:nvSpPr>
          <p:spPr>
            <a:xfrm>
              <a:off x="7048500" y="1181100"/>
              <a:ext cx="4610100" cy="3362325"/>
            </a:xfrm>
            <a:prstGeom prst="roundRect">
              <a:avLst>
                <a:gd name="adj" fmla="val 28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271004" y="1333500"/>
              <a:ext cx="29192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两条测试记录的误差 RMSE（越小越好）</a:t>
              </a: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7277100" y="1619250"/>
              <a:ext cx="2063648" cy="234696"/>
              <a:chOff x="7277100" y="1619250"/>
              <a:chExt cx="2063648" cy="234696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277100" y="16573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480554" y="1619250"/>
                <a:ext cx="2938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EKF</a:t>
                </a: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8001000" y="165735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204454" y="1619250"/>
                <a:ext cx="11362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EKF + 随机森林</a:t>
                </a:r>
              </a:p>
            </p:txBody>
          </p:sp>
        </p:grpSp>
        <p:grpSp>
          <p:nvGrpSpPr>
            <p:cNvPr id="44" name="record-rmse-chartArea"/>
            <p:cNvGrpSpPr/>
            <p:nvPr/>
          </p:nvGrpSpPr>
          <p:grpSpPr>
            <a:xfrm>
              <a:off x="7252106" y="1927225"/>
              <a:ext cx="4273144" cy="2587371"/>
              <a:chOff x="7252106" y="1927225"/>
              <a:chExt cx="4273144" cy="2587371"/>
            </a:xfrm>
          </p:grpSpPr>
          <p:grpSp>
            <p:nvGrpSpPr>
              <p:cNvPr id="21" name="Group 21"/>
              <p:cNvGrpSpPr/>
              <p:nvPr/>
            </p:nvGrpSpPr>
            <p:grpSpPr>
              <a:xfrm>
                <a:off x="7620000" y="2019300"/>
                <a:ext cx="3905250" cy="1746885"/>
                <a:chOff x="7620000" y="2019300"/>
                <a:chExt cx="3905250" cy="1746885"/>
              </a:xfrm>
            </p:grpSpPr>
            <p:sp>
              <p:nvSpPr>
                <p:cNvPr id="16" name="Line 16"/>
                <p:cNvSpPr/>
                <p:nvPr/>
              </p:nvSpPr>
              <p:spPr>
                <a:xfrm>
                  <a:off x="7620000" y="2019300"/>
                  <a:ext cx="390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0" h="9525">
                      <a:moveTo>
                        <a:pt x="0" y="0"/>
                      </a:moveTo>
                      <a:lnTo>
                        <a:pt x="3905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7620000" y="2453640"/>
                  <a:ext cx="390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0" h="9525">
                      <a:moveTo>
                        <a:pt x="0" y="0"/>
                      </a:moveTo>
                      <a:lnTo>
                        <a:pt x="3905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7620000" y="2887980"/>
                  <a:ext cx="390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0" h="9525">
                      <a:moveTo>
                        <a:pt x="0" y="0"/>
                      </a:moveTo>
                      <a:lnTo>
                        <a:pt x="3905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7620000" y="3322320"/>
                  <a:ext cx="390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0" h="9525">
                      <a:moveTo>
                        <a:pt x="0" y="0"/>
                      </a:moveTo>
                      <a:lnTo>
                        <a:pt x="3905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20" name="Line 20"/>
                <p:cNvSpPr/>
                <p:nvPr/>
              </p:nvSpPr>
              <p:spPr>
                <a:xfrm>
                  <a:off x="7620000" y="3756660"/>
                  <a:ext cx="39052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5250" h="9525">
                      <a:moveTo>
                        <a:pt x="0" y="0"/>
                      </a:moveTo>
                      <a:lnTo>
                        <a:pt x="39052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</p:grpSp>
          <p:sp>
            <p:nvSpPr>
              <p:cNvPr id="22" name="Line 22"/>
              <p:cNvSpPr/>
              <p:nvPr/>
            </p:nvSpPr>
            <p:spPr>
              <a:xfrm>
                <a:off x="7620000" y="4191000"/>
                <a:ext cx="390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905250" h="9525">
                    <a:moveTo>
                      <a:pt x="0" y="0"/>
                    </a:moveTo>
                    <a:lnTo>
                      <a:pt x="3905250" y="0"/>
                    </a:lnTo>
                  </a:path>
                </a:pathLst>
              </a:custGeom>
              <a:noFill/>
              <a:ln w="14288">
                <a:solidFill>
                  <a:srgbClr val="93A4B8"/>
                </a:solidFill>
              </a:ln>
            </p:spPr>
          </p:sp>
          <p:grpSp>
            <p:nvGrpSpPr>
              <p:cNvPr id="29" name="Group 29"/>
              <p:cNvGrpSpPr/>
              <p:nvPr/>
            </p:nvGrpSpPr>
            <p:grpSpPr>
              <a:xfrm>
                <a:off x="7252106" y="1927225"/>
                <a:ext cx="278740" cy="2406396"/>
                <a:chOff x="7252106" y="1927225"/>
                <a:chExt cx="278740" cy="2406396"/>
              </a:xfrm>
            </p:grpSpPr>
            <p:sp>
              <p:nvSpPr>
                <p:cNvPr id="23" name="TextBox 23"/>
                <p:cNvSpPr txBox="1"/>
                <p:nvPr/>
              </p:nvSpPr>
              <p:spPr>
                <a:xfrm>
                  <a:off x="7252106" y="192722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2.5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7429805" y="236156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2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7252106" y="279590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1.5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7429805" y="323024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1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7252106" y="366458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0.5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7429805" y="409892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0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7972425" y="2252662"/>
                <a:ext cx="2514600" cy="1938338"/>
                <a:chOff x="7972425" y="2252662"/>
                <a:chExt cx="2514600" cy="1938338"/>
              </a:xfrm>
            </p:grpSpPr>
            <p:sp>
              <p:nvSpPr>
                <p:cNvPr id="30" name="Rectangle 30"/>
                <p:cNvSpPr/>
                <p:nvPr/>
              </p:nvSpPr>
              <p:spPr>
                <a:xfrm>
                  <a:off x="7972425" y="2252662"/>
                  <a:ext cx="609600" cy="193833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9877425" y="2452688"/>
                  <a:ext cx="609600" cy="173831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8658225" y="3265170"/>
                <a:ext cx="2514600" cy="925830"/>
                <a:chOff x="8658225" y="3265170"/>
                <a:chExt cx="2514600" cy="925830"/>
              </a:xfrm>
            </p:grpSpPr>
            <p:sp>
              <p:nvSpPr>
                <p:cNvPr id="33" name="Rectangle 33"/>
                <p:cNvSpPr/>
                <p:nvPr/>
              </p:nvSpPr>
              <p:spPr>
                <a:xfrm>
                  <a:off x="8658225" y="3265170"/>
                  <a:ext cx="609600" cy="92583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10563225" y="3421380"/>
                  <a:ext cx="609600" cy="76962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8049006" y="2051050"/>
                <a:ext cx="3047238" cy="1408176"/>
                <a:chOff x="8049006" y="2051050"/>
                <a:chExt cx="3047238" cy="1408176"/>
              </a:xfrm>
            </p:grpSpPr>
            <p:sp>
              <p:nvSpPr>
                <p:cNvPr id="36" name="TextBox 36"/>
                <p:cNvSpPr txBox="1"/>
                <p:nvPr/>
              </p:nvSpPr>
              <p:spPr>
                <a:xfrm>
                  <a:off x="8049006" y="2051050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2.231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8734806" y="3068320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1.066</a:t>
                  </a:r>
                </a:p>
              </p:txBody>
            </p:sp>
            <p:sp>
              <p:nvSpPr>
                <p:cNvPr id="38" name="TextBox 38"/>
                <p:cNvSpPr txBox="1"/>
                <p:nvPr/>
              </p:nvSpPr>
              <p:spPr>
                <a:xfrm>
                  <a:off x="9954006" y="2255838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2.001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10639806" y="3224530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0.886</a:t>
                  </a:r>
                </a:p>
              </p:txBody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8344464" y="4279900"/>
                <a:ext cx="2456322" cy="234696"/>
                <a:chOff x="8344464" y="4279900"/>
                <a:chExt cx="2456322" cy="234696"/>
              </a:xfrm>
            </p:grpSpPr>
            <p:sp>
              <p:nvSpPr>
                <p:cNvPr id="41" name="TextBox 41"/>
                <p:cNvSpPr txBox="1"/>
                <p:nvPr/>
              </p:nvSpPr>
              <p:spPr>
                <a:xfrm>
                  <a:off x="8344464" y="4279900"/>
                  <a:ext cx="55132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Mixed7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0249464" y="4279900"/>
                  <a:ext cx="55132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Mixed8</a:t>
                  </a:r>
                </a:p>
              </p:txBody>
            </p:sp>
          </p:grpSp>
        </p:grpSp>
      </p:grpSp>
      <p:grpSp>
        <p:nvGrpSpPr>
          <p:cNvPr id="49" name="kpi-rmse"/>
          <p:cNvGrpSpPr/>
          <p:nvPr/>
        </p:nvGrpSpPr>
        <p:grpSpPr>
          <a:xfrm>
            <a:off x="533400" y="4781550"/>
            <a:ext cx="3581400" cy="1143000"/>
            <a:chOff x="533400" y="4781550"/>
            <a:chExt cx="3581400" cy="1143000"/>
          </a:xfrm>
        </p:grpSpPr>
        <p:sp>
          <p:nvSpPr>
            <p:cNvPr id="46" name="Rectangle 46"/>
            <p:cNvSpPr/>
            <p:nvPr/>
          </p:nvSpPr>
          <p:spPr>
            <a:xfrm>
              <a:off x="533400" y="4781550"/>
              <a:ext cx="3581400" cy="1143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7522" y="4972050"/>
              <a:ext cx="277217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2.116 → 0.976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5904" y="5543550"/>
              <a:ext cx="1926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平均误差 RMSE（百分点）</a:t>
              </a:r>
            </a:p>
          </p:txBody>
        </p:sp>
      </p:grpSp>
      <p:grpSp>
        <p:nvGrpSpPr>
          <p:cNvPr id="53" name="kpi-mae"/>
          <p:cNvGrpSpPr/>
          <p:nvPr/>
        </p:nvGrpSpPr>
        <p:grpSpPr>
          <a:xfrm>
            <a:off x="4305300" y="4781550"/>
            <a:ext cx="3581400" cy="1143000"/>
            <a:chOff x="4305300" y="4781550"/>
            <a:chExt cx="3581400" cy="1143000"/>
          </a:xfrm>
        </p:grpSpPr>
        <p:sp>
          <p:nvSpPr>
            <p:cNvPr id="50" name="Rectangle 50"/>
            <p:cNvSpPr/>
            <p:nvPr/>
          </p:nvSpPr>
          <p:spPr>
            <a:xfrm>
              <a:off x="4305300" y="4781550"/>
              <a:ext cx="3581400" cy="1143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519422" y="4972050"/>
              <a:ext cx="277217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1.770 → 0.801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527804" y="5543550"/>
              <a:ext cx="21561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平均绝对误差 MAE（百分点）</a:t>
              </a:r>
            </a:p>
          </p:txBody>
        </p:sp>
      </p:grpSp>
      <p:grpSp>
        <p:nvGrpSpPr>
          <p:cNvPr id="57" name="kpi-max"/>
          <p:cNvGrpSpPr/>
          <p:nvPr/>
        </p:nvGrpSpPr>
        <p:grpSpPr>
          <a:xfrm>
            <a:off x="8077200" y="4781550"/>
            <a:ext cx="3581400" cy="1143000"/>
            <a:chOff x="8077200" y="4781550"/>
            <a:chExt cx="3581400" cy="1143000"/>
          </a:xfrm>
        </p:grpSpPr>
        <p:sp>
          <p:nvSpPr>
            <p:cNvPr id="54" name="Rectangle 54"/>
            <p:cNvSpPr/>
            <p:nvPr/>
          </p:nvSpPr>
          <p:spPr>
            <a:xfrm>
              <a:off x="8077200" y="4781550"/>
              <a:ext cx="3581400" cy="1143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291322" y="4972050"/>
              <a:ext cx="108404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BBF24"/>
                  </a:solidFill>
                  <a:latin typeface="Consolas"/>
                  <a:ea typeface="Consolas"/>
                  <a:cs typeface="Consolas"/>
                </a:rPr>
                <a:t>3.597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299704" y="554355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个别时刻的最大误差（百分点）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noFill/>
          <a:ln w="9525">
            <a:solidFill>
              <a:schemeClr val="accent6">
                <a:alpha val="30000"/>
              </a:scheme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7424" y="6159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问题　数据　算法　</a:t>
            </a:r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结论</a:t>
            </a:r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　意义</a:t>
            </a:r>
          </a:p>
        </p:txBody>
      </p:sp>
      <p:grpSp>
        <p:nvGrpSpPr>
          <p:cNvPr id="5" name="title"/>
          <p:cNvGrpSpPr/>
          <p:nvPr/>
        </p:nvGrpSpPr>
        <p:grpSpPr>
          <a:xfrm>
            <a:off x="519684" y="508000"/>
            <a:ext cx="5843016" cy="528066"/>
            <a:chOff x="519684" y="508000"/>
            <a:chExt cx="5843016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19684" y="508000"/>
              <a:ext cx="584301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换个难度再考：干扰实验与简单对照</a:t>
              </a:r>
            </a:p>
          </p:txBody>
        </p:sp>
      </p:grpSp>
      <p:grpSp>
        <p:nvGrpSpPr>
          <p:cNvPr id="56" name="scenario-rmse"/>
          <p:cNvGrpSpPr/>
          <p:nvPr/>
        </p:nvGrpSpPr>
        <p:grpSpPr>
          <a:xfrm>
            <a:off x="533400" y="1181100"/>
            <a:ext cx="6286500" cy="3143250"/>
            <a:chOff x="533400" y="1181100"/>
            <a:chExt cx="6286500" cy="3143250"/>
          </a:xfrm>
        </p:grpSpPr>
        <p:sp>
          <p:nvSpPr>
            <p:cNvPr id="6" name="Rectangle 6"/>
            <p:cNvSpPr/>
            <p:nvPr/>
          </p:nvSpPr>
          <p:spPr>
            <a:xfrm>
              <a:off x="533400" y="1181100"/>
              <a:ext cx="6286500" cy="3143250"/>
            </a:xfrm>
            <a:prstGeom prst="roundRect">
              <a:avLst>
                <a:gd name="adj" fmla="val 3030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55904" y="1333500"/>
              <a:ext cx="3080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三种情况下的平均误差 RMSE（越小越好）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762000" y="1600200"/>
              <a:ext cx="3492398" cy="234696"/>
              <a:chOff x="762000" y="1600200"/>
              <a:chExt cx="3492398" cy="234696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762000" y="16383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965454" y="1600200"/>
                <a:ext cx="29382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EKF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1524000" y="16383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rgbClr val="7C8DA3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727454" y="1600200"/>
                <a:ext cx="98145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加固定修正值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2914650" y="1638300"/>
                <a:ext cx="133350" cy="133350"/>
              </a:xfrm>
              <a:prstGeom prst="roundRect">
                <a:avLst>
                  <a:gd name="adj" fmla="val 1428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118104" y="1600200"/>
                <a:ext cx="11362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EKF + 随机森林</a:t>
                </a:r>
              </a:p>
            </p:txBody>
          </p:sp>
        </p:grpSp>
        <p:grpSp>
          <p:nvGrpSpPr>
            <p:cNvPr id="55" name="scenario-rmse-chartArea"/>
            <p:cNvGrpSpPr/>
            <p:nvPr/>
          </p:nvGrpSpPr>
          <p:grpSpPr>
            <a:xfrm>
              <a:off x="679856" y="1927225"/>
              <a:ext cx="5949544" cy="2384171"/>
              <a:chOff x="679856" y="1927225"/>
              <a:chExt cx="5949544" cy="2384171"/>
            </a:xfrm>
          </p:grpSpPr>
          <p:grpSp>
            <p:nvGrpSpPr>
              <p:cNvPr id="20" name="Group 20"/>
              <p:cNvGrpSpPr/>
              <p:nvPr/>
            </p:nvGrpSpPr>
            <p:grpSpPr>
              <a:xfrm>
                <a:off x="1047750" y="2019300"/>
                <a:ext cx="5581650" cy="1594485"/>
                <a:chOff x="1047750" y="2019300"/>
                <a:chExt cx="5581650" cy="1594485"/>
              </a:xfrm>
            </p:grpSpPr>
            <p:sp>
              <p:nvSpPr>
                <p:cNvPr id="15" name="Line 15"/>
                <p:cNvSpPr/>
                <p:nvPr/>
              </p:nvSpPr>
              <p:spPr>
                <a:xfrm>
                  <a:off x="1047750" y="2019300"/>
                  <a:ext cx="5581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1650" h="9525">
                      <a:moveTo>
                        <a:pt x="0" y="0"/>
                      </a:moveTo>
                      <a:lnTo>
                        <a:pt x="55816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6" name="Line 16"/>
                <p:cNvSpPr/>
                <p:nvPr/>
              </p:nvSpPr>
              <p:spPr>
                <a:xfrm>
                  <a:off x="1047750" y="2415540"/>
                  <a:ext cx="5581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1650" h="9525">
                      <a:moveTo>
                        <a:pt x="0" y="0"/>
                      </a:moveTo>
                      <a:lnTo>
                        <a:pt x="55816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7" name="Line 17"/>
                <p:cNvSpPr/>
                <p:nvPr/>
              </p:nvSpPr>
              <p:spPr>
                <a:xfrm>
                  <a:off x="1047750" y="2811780"/>
                  <a:ext cx="5581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1650" h="9525">
                      <a:moveTo>
                        <a:pt x="0" y="0"/>
                      </a:moveTo>
                      <a:lnTo>
                        <a:pt x="55816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8" name="Line 18"/>
                <p:cNvSpPr/>
                <p:nvPr/>
              </p:nvSpPr>
              <p:spPr>
                <a:xfrm>
                  <a:off x="1047750" y="3208020"/>
                  <a:ext cx="5581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1650" h="9525">
                      <a:moveTo>
                        <a:pt x="0" y="0"/>
                      </a:moveTo>
                      <a:lnTo>
                        <a:pt x="55816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  <p:sp>
              <p:nvSpPr>
                <p:cNvPr id="19" name="Line 19"/>
                <p:cNvSpPr/>
                <p:nvPr/>
              </p:nvSpPr>
              <p:spPr>
                <a:xfrm>
                  <a:off x="1047750" y="3604260"/>
                  <a:ext cx="558165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81650" h="9525">
                      <a:moveTo>
                        <a:pt x="0" y="0"/>
                      </a:moveTo>
                      <a:lnTo>
                        <a:pt x="5581650" y="0"/>
                      </a:lnTo>
                    </a:path>
                  </a:pathLst>
                </a:custGeom>
                <a:noFill/>
                <a:ln w="9525">
                  <a:solidFill>
                    <a:schemeClr val="accent6"/>
                  </a:solidFill>
                </a:ln>
              </p:spPr>
            </p:sp>
          </p:grpSp>
          <p:sp>
            <p:nvSpPr>
              <p:cNvPr id="21" name="Line 21"/>
              <p:cNvSpPr/>
              <p:nvPr/>
            </p:nvSpPr>
            <p:spPr>
              <a:xfrm>
                <a:off x="1047750" y="4000500"/>
                <a:ext cx="5581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581650" h="9525">
                    <a:moveTo>
                      <a:pt x="0" y="0"/>
                    </a:moveTo>
                    <a:lnTo>
                      <a:pt x="5581650" y="0"/>
                    </a:lnTo>
                  </a:path>
                </a:pathLst>
              </a:custGeom>
              <a:noFill/>
              <a:ln w="14288">
                <a:solidFill>
                  <a:srgbClr val="93A4B8"/>
                </a:solidFill>
              </a:ln>
            </p:spPr>
          </p:sp>
          <p:grpSp>
            <p:nvGrpSpPr>
              <p:cNvPr id="28" name="Group 28"/>
              <p:cNvGrpSpPr/>
              <p:nvPr/>
            </p:nvGrpSpPr>
            <p:grpSpPr>
              <a:xfrm>
                <a:off x="679856" y="1927225"/>
                <a:ext cx="278740" cy="2215896"/>
                <a:chOff x="679856" y="1927225"/>
                <a:chExt cx="278740" cy="2215896"/>
              </a:xfrm>
            </p:grpSpPr>
            <p:sp>
              <p:nvSpPr>
                <p:cNvPr id="22" name="TextBox 22"/>
                <p:cNvSpPr txBox="1"/>
                <p:nvPr/>
              </p:nvSpPr>
              <p:spPr>
                <a:xfrm>
                  <a:off x="679856" y="192722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2.5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57555" y="232346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2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679856" y="271970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1.5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857555" y="311594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1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679856" y="3512185"/>
                  <a:ext cx="27874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0.5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857555" y="3908425"/>
                  <a:ext cx="10104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r"/>
                  <a:r>
                    <a:rPr lang="zh-CN" sz="1200" dirty="0">
                      <a:solidFill>
                        <a:schemeClr val="accent5"/>
                      </a:solidFill>
                      <a:latin typeface="Consolas"/>
                      <a:ea typeface="Consolas"/>
                      <a:cs typeface="Consolas"/>
                    </a:rPr>
                    <a:t>0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1209675" y="2306002"/>
                <a:ext cx="4191000" cy="1694498"/>
                <a:chOff x="1209675" y="2306002"/>
                <a:chExt cx="4191000" cy="1694498"/>
              </a:xfrm>
            </p:grpSpPr>
            <p:sp>
              <p:nvSpPr>
                <p:cNvPr id="29" name="Rectangle 29"/>
                <p:cNvSpPr/>
                <p:nvPr/>
              </p:nvSpPr>
              <p:spPr>
                <a:xfrm>
                  <a:off x="1209675" y="2323148"/>
                  <a:ext cx="476250" cy="167735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0" name="Rectangle 30"/>
                <p:cNvSpPr/>
                <p:nvPr/>
              </p:nvSpPr>
              <p:spPr>
                <a:xfrm>
                  <a:off x="3067050" y="2306002"/>
                  <a:ext cx="476250" cy="1694498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1" name="Rectangle 31"/>
                <p:cNvSpPr/>
                <p:nvPr/>
              </p:nvSpPr>
              <p:spPr>
                <a:xfrm>
                  <a:off x="4924425" y="2327910"/>
                  <a:ext cx="476250" cy="1672590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</p:grpSp>
          <p:grpSp>
            <p:nvGrpSpPr>
              <p:cNvPr id="36" name="Group 36"/>
              <p:cNvGrpSpPr/>
              <p:nvPr/>
            </p:nvGrpSpPr>
            <p:grpSpPr>
              <a:xfrm>
                <a:off x="1743075" y="3045142"/>
                <a:ext cx="4191000" cy="955358"/>
                <a:chOff x="1743075" y="3045142"/>
                <a:chExt cx="4191000" cy="955358"/>
              </a:xfrm>
            </p:grpSpPr>
            <p:sp>
              <p:nvSpPr>
                <p:cNvPr id="33" name="Rectangle 33"/>
                <p:cNvSpPr/>
                <p:nvPr/>
              </p:nvSpPr>
              <p:spPr>
                <a:xfrm>
                  <a:off x="1743075" y="3057525"/>
                  <a:ext cx="476250" cy="942975"/>
                </a:xfrm>
                <a:prstGeom prst="rect">
                  <a:avLst/>
                </a:prstGeom>
                <a:solidFill>
                  <a:srgbClr val="7C8DA3"/>
                </a:solidFill>
                <a:ln>
                  <a:noFill/>
                </a:ln>
              </p:spPr>
            </p:sp>
            <p:sp>
              <p:nvSpPr>
                <p:cNvPr id="34" name="Rectangle 34"/>
                <p:cNvSpPr/>
                <p:nvPr/>
              </p:nvSpPr>
              <p:spPr>
                <a:xfrm>
                  <a:off x="3600450" y="3045142"/>
                  <a:ext cx="476250" cy="955358"/>
                </a:xfrm>
                <a:prstGeom prst="rect">
                  <a:avLst/>
                </a:prstGeom>
                <a:solidFill>
                  <a:srgbClr val="7C8DA3"/>
                </a:solidFill>
                <a:ln>
                  <a:noFill/>
                </a:ln>
              </p:spPr>
            </p:sp>
            <p:sp>
              <p:nvSpPr>
                <p:cNvPr id="35" name="Rectangle 35"/>
                <p:cNvSpPr/>
                <p:nvPr/>
              </p:nvSpPr>
              <p:spPr>
                <a:xfrm>
                  <a:off x="5457825" y="3064192"/>
                  <a:ext cx="476250" cy="936308"/>
                </a:xfrm>
                <a:prstGeom prst="rect">
                  <a:avLst/>
                </a:prstGeom>
                <a:solidFill>
                  <a:srgbClr val="7C8DA3"/>
                </a:solidFill>
                <a:ln>
                  <a:noFill/>
                </a:ln>
              </p:spPr>
            </p:sp>
          </p:grpSp>
          <p:grpSp>
            <p:nvGrpSpPr>
              <p:cNvPr id="40" name="Group 40"/>
              <p:cNvGrpSpPr/>
              <p:nvPr/>
            </p:nvGrpSpPr>
            <p:grpSpPr>
              <a:xfrm>
                <a:off x="2276475" y="3215640"/>
                <a:ext cx="4191000" cy="784860"/>
                <a:chOff x="2276475" y="3215640"/>
                <a:chExt cx="4191000" cy="784860"/>
              </a:xfrm>
            </p:grpSpPr>
            <p:sp>
              <p:nvSpPr>
                <p:cNvPr id="37" name="Rectangle 37"/>
                <p:cNvSpPr/>
                <p:nvPr/>
              </p:nvSpPr>
              <p:spPr>
                <a:xfrm>
                  <a:off x="2276475" y="3227070"/>
                  <a:ext cx="476250" cy="77343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8" name="Rectangle 38"/>
                <p:cNvSpPr/>
                <p:nvPr/>
              </p:nvSpPr>
              <p:spPr>
                <a:xfrm>
                  <a:off x="4133850" y="3215640"/>
                  <a:ext cx="476250" cy="78486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9" name="Rectangle 39"/>
                <p:cNvSpPr/>
                <p:nvPr/>
              </p:nvSpPr>
              <p:spPr>
                <a:xfrm>
                  <a:off x="5991225" y="3238500"/>
                  <a:ext cx="476250" cy="76200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</p:grpSp>
          <p:grpSp>
            <p:nvGrpSpPr>
              <p:cNvPr id="50" name="Group 50"/>
              <p:cNvGrpSpPr/>
              <p:nvPr/>
            </p:nvGrpSpPr>
            <p:grpSpPr>
              <a:xfrm>
                <a:off x="1219581" y="2109152"/>
                <a:ext cx="5237988" cy="1167194"/>
                <a:chOff x="1219581" y="2109152"/>
                <a:chExt cx="5237988" cy="1167194"/>
              </a:xfrm>
            </p:grpSpPr>
            <p:sp>
              <p:nvSpPr>
                <p:cNvPr id="41" name="TextBox 41"/>
                <p:cNvSpPr txBox="1"/>
                <p:nvPr/>
              </p:nvSpPr>
              <p:spPr>
                <a:xfrm>
                  <a:off x="1219581" y="2126298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2.116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1752981" y="2860675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1.190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2286381" y="3030220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0.976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3076956" y="2109152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2.138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3610356" y="2848292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1.205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4143756" y="3018790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0.990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4934331" y="2131060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2.111</a:t>
                  </a:r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>
                  <a:off x="5467731" y="2867342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1.182</a:t>
                  </a:r>
                </a:p>
              </p:txBody>
            </p:sp>
            <p:sp>
              <p:nvSpPr>
                <p:cNvPr id="49" name="TextBox 49"/>
                <p:cNvSpPr txBox="1"/>
                <p:nvPr/>
              </p:nvSpPr>
              <p:spPr>
                <a:xfrm>
                  <a:off x="6001131" y="3041650"/>
                  <a:ext cx="45643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</a:rPr>
                    <a:t>0.962</a:t>
                  </a:r>
                </a:p>
              </p:txBody>
            </p:sp>
          </p:grpSp>
          <p:grpSp>
            <p:nvGrpSpPr>
              <p:cNvPr id="54" name="Group 54"/>
              <p:cNvGrpSpPr/>
              <p:nvPr/>
            </p:nvGrpSpPr>
            <p:grpSpPr>
              <a:xfrm>
                <a:off x="1813560" y="4076700"/>
                <a:ext cx="4292346" cy="234696"/>
                <a:chOff x="1813560" y="4076700"/>
                <a:chExt cx="4292346" cy="234696"/>
              </a:xfrm>
            </p:grpSpPr>
            <p:sp>
              <p:nvSpPr>
                <p:cNvPr id="51" name="TextBox 51"/>
                <p:cNvSpPr txBox="1"/>
                <p:nvPr/>
              </p:nvSpPr>
              <p:spPr>
                <a:xfrm>
                  <a:off x="1813560" y="4076700"/>
                  <a:ext cx="33528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正常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3359963" y="4076700"/>
                  <a:ext cx="9572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起点估低10%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5285994" y="4076700"/>
                  <a:ext cx="81991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测量加噪声</a:t>
                  </a:r>
                </a:p>
              </p:txBody>
            </p:sp>
          </p:grpSp>
        </p:grpSp>
      </p:grpSp>
      <p:grpSp>
        <p:nvGrpSpPr>
          <p:cNvPr id="60" name="bias-figure"/>
          <p:cNvGrpSpPr/>
          <p:nvPr/>
        </p:nvGrpSpPr>
        <p:grpSpPr>
          <a:xfrm>
            <a:off x="7042404" y="1181100"/>
            <a:ext cx="4616196" cy="3054096"/>
            <a:chOff x="7042404" y="1181100"/>
            <a:chExt cx="4616196" cy="3054096"/>
          </a:xfrm>
        </p:grpSpPr>
        <p:sp>
          <p:nvSpPr>
            <p:cNvPr id="57" name="Rectangle 57"/>
            <p:cNvSpPr/>
            <p:nvPr/>
          </p:nvSpPr>
          <p:spPr>
            <a:xfrm>
              <a:off x="7048500" y="1181100"/>
              <a:ext cx="4610100" cy="2495550"/>
            </a:xfrm>
            <a:prstGeom prst="roundRect">
              <a:avLst>
                <a:gd name="adj" fmla="val 3817"/>
              </a:avLst>
            </a:prstGeom>
            <a:solidFill>
              <a:srgbClr val="F4F7FA"/>
            </a:solidFill>
            <a:ln w="14288">
              <a:solidFill>
                <a:schemeClr val="accent1">
                  <a:alpha val="60000"/>
                </a:schemeClr>
              </a:solidFill>
            </a:ln>
          </p:spPr>
        </p:sp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143750" y="1276350"/>
              <a:ext cx="4419600" cy="2305050"/>
            </a:xfrm>
            <a:prstGeom prst="rect">
              <a:avLst/>
            </a:prstGeom>
          </p:spPr>
        </p:pic>
        <p:sp>
          <p:nvSpPr>
            <p:cNvPr id="59" name="TextBox 59"/>
            <p:cNvSpPr txBox="1"/>
            <p:nvPr/>
          </p:nvSpPr>
          <p:spPr>
            <a:xfrm>
              <a:off x="7042404" y="3752850"/>
              <a:ext cx="318973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起点估低时的误差曲线：修正后整体更接近 0，</a:t>
              </a:r>
              <a:b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但会有小幅抖动；模型没有重新训练</a:t>
              </a:r>
            </a:p>
          </p:txBody>
        </p:sp>
      </p:grpSp>
      <p:grpSp>
        <p:nvGrpSpPr>
          <p:cNvPr id="64" name="card-bias"/>
          <p:cNvGrpSpPr/>
          <p:nvPr/>
        </p:nvGrpSpPr>
        <p:grpSpPr>
          <a:xfrm>
            <a:off x="533400" y="4552950"/>
            <a:ext cx="3581400" cy="1181100"/>
            <a:chOff x="533400" y="4552950"/>
            <a:chExt cx="3581400" cy="1181100"/>
          </a:xfrm>
        </p:grpSpPr>
        <p:sp>
          <p:nvSpPr>
            <p:cNvPr id="61" name="Rectangle 61"/>
            <p:cNvSpPr/>
            <p:nvPr/>
          </p:nvSpPr>
          <p:spPr>
            <a:xfrm>
              <a:off x="533400" y="4552950"/>
              <a:ext cx="3581400" cy="1181100"/>
            </a:xfrm>
            <a:prstGeom prst="roundRect">
              <a:avLst>
                <a:gd name="adj" fmla="val 806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55142" y="47307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起点估错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5904" y="5067300"/>
              <a:ext cx="277444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起点故意估低 10%：误差仍降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53.71%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开头第一个点仍差约 4 个百分点</a:t>
              </a:r>
            </a:p>
          </p:txBody>
        </p:sp>
      </p:grpSp>
      <p:grpSp>
        <p:nvGrpSpPr>
          <p:cNvPr id="68" name="card-noise"/>
          <p:cNvGrpSpPr/>
          <p:nvPr/>
        </p:nvGrpSpPr>
        <p:grpSpPr>
          <a:xfrm>
            <a:off x="4305300" y="4552950"/>
            <a:ext cx="3581400" cy="1181100"/>
            <a:chOff x="4305300" y="4552950"/>
            <a:chExt cx="3581400" cy="1181100"/>
          </a:xfrm>
        </p:grpSpPr>
        <p:sp>
          <p:nvSpPr>
            <p:cNvPr id="65" name="Rectangle 65"/>
            <p:cNvSpPr/>
            <p:nvPr/>
          </p:nvSpPr>
          <p:spPr>
            <a:xfrm>
              <a:off x="4305300" y="4552950"/>
              <a:ext cx="3581400" cy="1181100"/>
            </a:xfrm>
            <a:prstGeom prst="roundRect">
              <a:avLst>
                <a:gd name="adj" fmla="val 8065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527042" y="47307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测量有干扰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527804" y="5067300"/>
              <a:ext cx="3056382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给电压、电流加随机干扰：误差降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54.46%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只试了一次，还需要多次重复验证</a:t>
              </a:r>
            </a:p>
          </p:txBody>
        </p:sp>
      </p:grpSp>
      <p:grpSp>
        <p:nvGrpSpPr>
          <p:cNvPr id="72" name="card-baseline"/>
          <p:cNvGrpSpPr/>
          <p:nvPr/>
        </p:nvGrpSpPr>
        <p:grpSpPr>
          <a:xfrm>
            <a:off x="8077200" y="4552950"/>
            <a:ext cx="3581400" cy="1181100"/>
            <a:chOff x="8077200" y="4552950"/>
            <a:chExt cx="3581400" cy="1181100"/>
          </a:xfrm>
        </p:grpSpPr>
        <p:sp>
          <p:nvSpPr>
            <p:cNvPr id="69" name="Rectangle 69"/>
            <p:cNvSpPr/>
            <p:nvPr/>
          </p:nvSpPr>
          <p:spPr>
            <a:xfrm>
              <a:off x="8077200" y="4552950"/>
              <a:ext cx="3581400" cy="1181100"/>
            </a:xfrm>
            <a:prstGeom prst="roundRect">
              <a:avLst>
                <a:gd name="adj" fmla="val 8065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298942" y="4730750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简单对照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299704" y="5067300"/>
              <a:ext cx="3059811" cy="48234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只给 EKF 加一个固定修正值 1.59pp，</a:t>
              </a:r>
              <a:b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误差就降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43.8%</a:t>
              </a:r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；随机森林再多降约 0.21pp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1524000"/>
                </a:moveTo>
                <a:lnTo>
                  <a:pt x="12192000" y="1524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1524000" y="0"/>
                </a:moveTo>
                <a:lnTo>
                  <a:pt x="1524000" y="6858000"/>
                </a:lnTo>
                <a:moveTo>
                  <a:pt x="4572000" y="0"/>
                </a:moveTo>
                <a:lnTo>
                  <a:pt x="4572000" y="6858000"/>
                </a:lnTo>
                <a:moveTo>
                  <a:pt x="7620000" y="0"/>
                </a:moveTo>
                <a:lnTo>
                  <a:pt x="7620000" y="6858000"/>
                </a:lnTo>
                <a:moveTo>
                  <a:pt x="10668000" y="0"/>
                </a:moveTo>
                <a:lnTo>
                  <a:pt x="10668000" y="6858000"/>
                </a:lnTo>
              </a:path>
            </a:pathLst>
          </a:custGeom>
          <a:noFill/>
          <a:ln w="9525">
            <a:solidFill>
              <a:schemeClr val="accent6">
                <a:alpha val="30000"/>
              </a:schemeClr>
            </a:solidFill>
          </a:ln>
        </p:spPr>
      </p:sp>
      <p:sp>
        <p:nvSpPr>
          <p:cNvPr id="3" name="TextBox 3"/>
          <p:cNvSpPr txBox="1"/>
          <p:nvPr/>
        </p:nvSpPr>
        <p:spPr>
          <a:xfrm>
            <a:off x="9107424" y="6159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问题　数据　算法　</a:t>
            </a:r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结论</a:t>
            </a:r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　意义</a:t>
            </a:r>
          </a:p>
        </p:txBody>
      </p:sp>
      <p:grpSp>
        <p:nvGrpSpPr>
          <p:cNvPr id="5" name="title"/>
          <p:cNvGrpSpPr/>
          <p:nvPr/>
        </p:nvGrpSpPr>
        <p:grpSpPr>
          <a:xfrm>
            <a:off x="519684" y="508000"/>
            <a:ext cx="1844802" cy="528066"/>
            <a:chOff x="519684" y="508000"/>
            <a:chExt cx="1844802" cy="528066"/>
          </a:xfrm>
        </p:grpSpPr>
        <p:sp>
          <p:nvSpPr>
            <p:cNvPr id="4" name="TextBox 4"/>
            <p:cNvSpPr txBox="1"/>
            <p:nvPr/>
          </p:nvSpPr>
          <p:spPr>
            <a:xfrm>
              <a:off x="519684" y="508000"/>
              <a:ext cx="1844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我们的结论</a:t>
              </a:r>
            </a:p>
          </p:txBody>
        </p:sp>
      </p:grpSp>
      <p:grpSp>
        <p:nvGrpSpPr>
          <p:cNvPr id="12" name="hero"/>
          <p:cNvGrpSpPr/>
          <p:nvPr/>
        </p:nvGrpSpPr>
        <p:grpSpPr>
          <a:xfrm>
            <a:off x="533400" y="1200150"/>
            <a:ext cx="4191000" cy="3581400"/>
            <a:chOff x="533400" y="1200150"/>
            <a:chExt cx="4191000" cy="3581400"/>
          </a:xfrm>
        </p:grpSpPr>
        <p:sp>
          <p:nvSpPr>
            <p:cNvPr id="6" name="Rectangle 6"/>
            <p:cNvSpPr/>
            <p:nvPr/>
          </p:nvSpPr>
          <p:spPr>
            <a:xfrm>
              <a:off x="533400" y="1200150"/>
              <a:ext cx="4191000" cy="3581400"/>
            </a:xfrm>
            <a:prstGeom prst="roundRect">
              <a:avLst>
                <a:gd name="adj" fmla="val 2660"/>
              </a:avLst>
            </a:prstGeom>
            <a:solidFill>
              <a:srgbClr val="0F3340"/>
            </a:solidFill>
            <a:ln w="14288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93242" y="151130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两条测试记录上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81050" y="1993900"/>
              <a:ext cx="376976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solidFill>
                    <a:schemeClr val="accent2"/>
                  </a:solidFill>
                  <a:effectLst>
                    <a:glow rad="57150">
                      <a:srgbClr val="A3E635">
                        <a:alpha val="45000"/>
                      </a:srgbClr>
                    </a:glow>
                  </a:effectLst>
                  <a:latin typeface="Consolas"/>
                  <a:ea typeface="Consolas"/>
                  <a:cs typeface="Consolas"/>
                </a:rPr>
                <a:t>−53.89%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861" y="3155950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平均估计误差降低幅度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87146" y="3905250"/>
              <a:ext cx="2746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2.116 → 0.976</a:t>
              </a:r>
              <a:r>
                <a:rPr lang="en-US" sz="1200" b="1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 xml:space="preserve"> pp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4004" y="4381500"/>
              <a:ext cx="3229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平均误差（百分点）：EKF → EKF + 随机森林</a:t>
              </a:r>
            </a:p>
          </p:txBody>
        </p:sp>
      </p:grpSp>
      <p:grpSp>
        <p:nvGrpSpPr>
          <p:cNvPr id="16" name="finding-robust"/>
          <p:cNvGrpSpPr/>
          <p:nvPr/>
        </p:nvGrpSpPr>
        <p:grpSpPr>
          <a:xfrm>
            <a:off x="4953000" y="1200150"/>
            <a:ext cx="6705600" cy="1104900"/>
            <a:chOff x="4953000" y="1200150"/>
            <a:chExt cx="6705600" cy="1104900"/>
          </a:xfrm>
        </p:grpSpPr>
        <p:sp>
          <p:nvSpPr>
            <p:cNvPr id="13" name="Rectangle 13"/>
            <p:cNvSpPr/>
            <p:nvPr/>
          </p:nvSpPr>
          <p:spPr>
            <a:xfrm>
              <a:off x="4953000" y="1200150"/>
              <a:ext cx="6705600" cy="11049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12842" y="1397000"/>
              <a:ext cx="14480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加了干扰也有效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12461" y="1670050"/>
              <a:ext cx="3440938" cy="5644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正常、起点估错、测量有干扰三种情况下，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平均误差都降低 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53.71%～54.46%</a:t>
              </a:r>
            </a:p>
          </p:txBody>
        </p:sp>
      </p:grpSp>
      <p:grpSp>
        <p:nvGrpSpPr>
          <p:cNvPr id="20" name="finding-bias"/>
          <p:cNvGrpSpPr/>
          <p:nvPr/>
        </p:nvGrpSpPr>
        <p:grpSpPr>
          <a:xfrm>
            <a:off x="4953000" y="2457450"/>
            <a:ext cx="6705600" cy="1104900"/>
            <a:chOff x="4953000" y="2457450"/>
            <a:chExt cx="6705600" cy="1104900"/>
          </a:xfrm>
        </p:grpSpPr>
        <p:sp>
          <p:nvSpPr>
            <p:cNvPr id="17" name="Rectangle 17"/>
            <p:cNvSpPr/>
            <p:nvPr/>
          </p:nvSpPr>
          <p:spPr>
            <a:xfrm>
              <a:off x="4953000" y="2457450"/>
              <a:ext cx="6705600" cy="1104900"/>
            </a:xfrm>
            <a:prstGeom prst="roundRect">
              <a:avLst>
                <a:gd name="adj" fmla="val 8621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12842" y="2654300"/>
              <a:ext cx="2384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主要功劳是“去掉固定偏差”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12461" y="3041650"/>
              <a:ext cx="59676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约 </a:t>
              </a:r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81%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的改善加一个固定修正值就能做到，随机森林再多降约 0.21pp</a:t>
              </a:r>
            </a:p>
          </p:txBody>
        </p:sp>
      </p:grpSp>
      <p:grpSp>
        <p:nvGrpSpPr>
          <p:cNvPr id="24" name="finding-local"/>
          <p:cNvGrpSpPr/>
          <p:nvPr/>
        </p:nvGrpSpPr>
        <p:grpSpPr>
          <a:xfrm>
            <a:off x="4953000" y="3714750"/>
            <a:ext cx="6705600" cy="1066800"/>
            <a:chOff x="4953000" y="3714750"/>
            <a:chExt cx="6705600" cy="1066800"/>
          </a:xfrm>
        </p:grpSpPr>
        <p:sp>
          <p:nvSpPr>
            <p:cNvPr id="21" name="Rectangle 21"/>
            <p:cNvSpPr/>
            <p:nvPr/>
          </p:nvSpPr>
          <p:spPr>
            <a:xfrm>
              <a:off x="4953000" y="3714750"/>
              <a:ext cx="6705600" cy="1066800"/>
            </a:xfrm>
            <a:prstGeom prst="roundRect">
              <a:avLst>
                <a:gd name="adj" fmla="val 8929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12842" y="3911600"/>
              <a:ext cx="16298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BBF24"/>
                  </a:solidFill>
                  <a:latin typeface="+mn-lt"/>
                  <a:ea typeface="+mn-ea"/>
                  <a:cs typeface="+mn-cs"/>
                </a:rPr>
                <a:t>③ 个别时刻仍有误差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212461" y="4298950"/>
              <a:ext cx="49655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最大误差仍约 3.6～4.4 个百分点，修正后的曲线有小抖动</a:t>
              </a:r>
            </a:p>
          </p:txBody>
        </p:sp>
      </p:grpSp>
      <p:grpSp>
        <p:nvGrpSpPr>
          <p:cNvPr id="27" name="scope"/>
          <p:cNvGrpSpPr/>
          <p:nvPr/>
        </p:nvGrpSpPr>
        <p:grpSpPr>
          <a:xfrm>
            <a:off x="533400" y="5048250"/>
            <a:ext cx="11125200" cy="571500"/>
            <a:chOff x="533400" y="5048250"/>
            <a:chExt cx="11125200" cy="571500"/>
          </a:xfrm>
        </p:grpSpPr>
        <p:sp>
          <p:nvSpPr>
            <p:cNvPr id="25" name="Rectangle 25"/>
            <p:cNvSpPr/>
            <p:nvPr/>
          </p:nvSpPr>
          <p:spPr>
            <a:xfrm>
              <a:off x="533400" y="5048250"/>
              <a:ext cx="11125200" cy="5715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92861" y="5222875"/>
              <a:ext cx="7421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适用范围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只在同一节电池、25℃、两条测试记录上验证过；“标准答案”本身也是计算值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762000"/>
                </a:moveTo>
                <a:lnTo>
                  <a:pt x="12192000" y="762000"/>
                </a:lnTo>
                <a:moveTo>
                  <a:pt x="0" y="1524000"/>
                </a:moveTo>
                <a:lnTo>
                  <a:pt x="12192000" y="1524000"/>
                </a:lnTo>
                <a:moveTo>
                  <a:pt x="0" y="2286000"/>
                </a:moveTo>
                <a:lnTo>
                  <a:pt x="12192000" y="2286000"/>
                </a:lnTo>
                <a:moveTo>
                  <a:pt x="0" y="3048000"/>
                </a:moveTo>
                <a:lnTo>
                  <a:pt x="12192000" y="3048000"/>
                </a:lnTo>
                <a:moveTo>
                  <a:pt x="0" y="3810000"/>
                </a:moveTo>
                <a:lnTo>
                  <a:pt x="12192000" y="3810000"/>
                </a:lnTo>
                <a:moveTo>
                  <a:pt x="0" y="4572000"/>
                </a:moveTo>
                <a:lnTo>
                  <a:pt x="12192000" y="4572000"/>
                </a:lnTo>
                <a:moveTo>
                  <a:pt x="0" y="5334000"/>
                </a:moveTo>
                <a:lnTo>
                  <a:pt x="12192000" y="5334000"/>
                </a:lnTo>
                <a:moveTo>
                  <a:pt x="0" y="6096000"/>
                </a:moveTo>
                <a:lnTo>
                  <a:pt x="12192000" y="6096000"/>
                </a:lnTo>
                <a:moveTo>
                  <a:pt x="762000" y="0"/>
                </a:moveTo>
                <a:lnTo>
                  <a:pt x="762000" y="6858000"/>
                </a:lnTo>
                <a:moveTo>
                  <a:pt x="2286000" y="0"/>
                </a:moveTo>
                <a:lnTo>
                  <a:pt x="2286000" y="6858000"/>
                </a:lnTo>
                <a:moveTo>
                  <a:pt x="3810000" y="0"/>
                </a:moveTo>
                <a:lnTo>
                  <a:pt x="3810000" y="6858000"/>
                </a:lnTo>
                <a:moveTo>
                  <a:pt x="5334000" y="0"/>
                </a:moveTo>
                <a:lnTo>
                  <a:pt x="5334000" y="6858000"/>
                </a:lnTo>
                <a:moveTo>
                  <a:pt x="6858000" y="0"/>
                </a:moveTo>
                <a:lnTo>
                  <a:pt x="6858000" y="6858000"/>
                </a:lnTo>
                <a:moveTo>
                  <a:pt x="8382000" y="0"/>
                </a:moveTo>
                <a:lnTo>
                  <a:pt x="8382000" y="6858000"/>
                </a:lnTo>
                <a:moveTo>
                  <a:pt x="9906000" y="0"/>
                </a:moveTo>
                <a:lnTo>
                  <a:pt x="9906000" y="6858000"/>
                </a:lnTo>
                <a:moveTo>
                  <a:pt x="11430000" y="0"/>
                </a:moveTo>
                <a:lnTo>
                  <a:pt x="11430000" y="6858000"/>
                </a:lnTo>
              </a:path>
            </a:pathLst>
          </a:custGeom>
          <a:noFill/>
          <a:ln w="9525">
            <a:solidFill>
              <a:schemeClr val="accent6">
                <a:alpha val="35000"/>
              </a:schemeClr>
            </a:solidFill>
          </a:ln>
        </p:spPr>
      </p:sp>
      <p:sp>
        <p:nvSpPr>
          <p:cNvPr id="3" name="end-glow"/>
          <p:cNvSpPr/>
          <p:nvPr/>
        </p:nvSpPr>
        <p:spPr>
          <a:xfrm>
            <a:off x="762000" y="857250"/>
            <a:ext cx="10668000" cy="4572000"/>
          </a:xfrm>
          <a:prstGeom prst="ellipse">
            <a:avLst/>
          </a:prstGeom>
          <a:gradFill>
            <a:gsLst>
              <a:gs pos="0">
                <a:schemeClr val="accent1">
                  <a:alpha val="16000"/>
                </a:schemeClr>
              </a:gs>
              <a:gs pos="100000">
                <a:schemeClr val="accent1">
                  <a:alpha val="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4" name="trace"/>
          <p:cNvSpPr/>
          <p:nvPr/>
        </p:nvSpPr>
        <p:spPr>
          <a:xfrm>
            <a:off x="8001000" y="5334000"/>
            <a:ext cx="3657600" cy="952500"/>
          </a:xfrm>
          <a:custGeom>
            <a:avLst/>
            <a:gdLst/>
            <a:ahLst/>
            <a:cxnLst/>
            <a:rect l="l" t="t" r="r" b="b"/>
            <a:pathLst>
              <a:path w="3657600" h="952500">
                <a:moveTo>
                  <a:pt x="0" y="952500"/>
                </a:moveTo>
                <a:lnTo>
                  <a:pt x="1524000" y="952500"/>
                </a:lnTo>
                <a:lnTo>
                  <a:pt x="1905000" y="571500"/>
                </a:lnTo>
                <a:lnTo>
                  <a:pt x="3657600" y="571500"/>
                </a:lnTo>
                <a:moveTo>
                  <a:pt x="1905000" y="571500"/>
                </a:moveTo>
                <a:lnTo>
                  <a:pt x="1905000" y="285750"/>
                </a:lnTo>
                <a:lnTo>
                  <a:pt x="2190750" y="0"/>
                </a:lnTo>
                <a:lnTo>
                  <a:pt x="3657600" y="0"/>
                </a:lnTo>
              </a:path>
            </a:pathLst>
          </a:custGeom>
          <a:noFill/>
          <a:ln w="14288">
            <a:solidFill>
              <a:schemeClr val="accent1">
                <a:alpha val="40000"/>
              </a:scheme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9107424" y="920750"/>
            <a:ext cx="255803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 xml:space="preserve">问题　数据　算法　结论　</a:t>
            </a:r>
            <a:r>
              <a:rPr lang="zh-CN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意义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15112" y="698500"/>
            <a:ext cx="3429000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这件事有什么用</a:t>
            </a:r>
          </a:p>
        </p:txBody>
      </p:sp>
      <p:grpSp>
        <p:nvGrpSpPr>
          <p:cNvPr id="10" name="col-application"/>
          <p:cNvGrpSpPr/>
          <p:nvPr/>
        </p:nvGrpSpPr>
        <p:grpSpPr>
          <a:xfrm>
            <a:off x="533400" y="1524000"/>
            <a:ext cx="3581400" cy="1638300"/>
            <a:chOff x="533400" y="1524000"/>
            <a:chExt cx="3581400" cy="16383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3581400" cy="1638300"/>
            </a:xfrm>
            <a:prstGeom prst="roundRect">
              <a:avLst>
                <a:gd name="adj" fmla="val 5814"/>
              </a:avLst>
            </a:prstGeom>
            <a:solidFill>
              <a:schemeClr val="lt2"/>
            </a:solidFill>
            <a:ln w="14288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91718" y="17399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应用意义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92861" y="2184400"/>
              <a:ext cx="2178558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SOC 是电池的“电量表”：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电动车、手机、储能都靠它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显示电量、防止过充过放</a:t>
              </a:r>
            </a:p>
          </p:txBody>
        </p:sp>
      </p:grpSp>
      <p:grpSp>
        <p:nvGrpSpPr>
          <p:cNvPr id="14" name="col-method"/>
          <p:cNvGrpSpPr/>
          <p:nvPr/>
        </p:nvGrpSpPr>
        <p:grpSpPr>
          <a:xfrm>
            <a:off x="4305300" y="1524000"/>
            <a:ext cx="3581400" cy="1638300"/>
            <a:chOff x="4305300" y="1524000"/>
            <a:chExt cx="3581400" cy="1638300"/>
          </a:xfrm>
        </p:grpSpPr>
        <p:sp>
          <p:nvSpPr>
            <p:cNvPr id="11" name="Rectangle 11"/>
            <p:cNvSpPr/>
            <p:nvPr/>
          </p:nvSpPr>
          <p:spPr>
            <a:xfrm>
              <a:off x="4305300" y="1524000"/>
              <a:ext cx="3581400" cy="1638300"/>
            </a:xfrm>
            <a:prstGeom prst="roundRect">
              <a:avLst>
                <a:gd name="adj" fmla="val 58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563618" y="17399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方法意义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64761" y="2184400"/>
              <a:ext cx="2178558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物理模型讲道理，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机器学习补短板；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再用简单对照检验真实效果</a:t>
              </a:r>
            </a:p>
          </p:txBody>
        </p:sp>
      </p:grpSp>
      <p:grpSp>
        <p:nvGrpSpPr>
          <p:cNvPr id="18" name="col-practice"/>
          <p:cNvGrpSpPr/>
          <p:nvPr/>
        </p:nvGrpSpPr>
        <p:grpSpPr>
          <a:xfrm>
            <a:off x="8077200" y="1524000"/>
            <a:ext cx="3581400" cy="1638300"/>
            <a:chOff x="8077200" y="1524000"/>
            <a:chExt cx="3581400" cy="1638300"/>
          </a:xfrm>
        </p:grpSpPr>
        <p:sp>
          <p:nvSpPr>
            <p:cNvPr id="15" name="Rectangle 15"/>
            <p:cNvSpPr/>
            <p:nvPr/>
          </p:nvSpPr>
          <p:spPr>
            <a:xfrm>
              <a:off x="8077200" y="1524000"/>
              <a:ext cx="3581400" cy="1638300"/>
            </a:xfrm>
            <a:prstGeom prst="roundRect">
              <a:avLst>
                <a:gd name="adj" fmla="val 5814"/>
              </a:avLst>
            </a:prstGeom>
            <a:solidFill>
              <a:schemeClr val="lt2"/>
            </a:solidFill>
            <a:ln w="9525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35518" y="173990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实践意义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36661" y="2184400"/>
              <a:ext cx="2376932" cy="8502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从公开数据到最终测试，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全流程跑通、可以复现；</a:t>
              </a:r>
              <a:b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按记录分组，杜绝“偷看答案”</a:t>
              </a:r>
            </a:p>
          </p:txBody>
        </p:sp>
      </p:grpSp>
      <p:grpSp>
        <p:nvGrpSpPr>
          <p:cNvPr id="21" name="next"/>
          <p:cNvGrpSpPr/>
          <p:nvPr/>
        </p:nvGrpSpPr>
        <p:grpSpPr>
          <a:xfrm>
            <a:off x="533400" y="3409950"/>
            <a:ext cx="11125200" cy="666750"/>
            <a:chOff x="533400" y="3409950"/>
            <a:chExt cx="11125200" cy="666750"/>
          </a:xfrm>
        </p:grpSpPr>
        <p:sp>
          <p:nvSpPr>
            <p:cNvPr id="19" name="Rectangle 19"/>
            <p:cNvSpPr/>
            <p:nvPr/>
          </p:nvSpPr>
          <p:spPr>
            <a:xfrm>
              <a:off x="533400" y="3409950"/>
              <a:ext cx="11125200" cy="666750"/>
            </a:xfrm>
            <a:prstGeom prst="roundRect">
              <a:avLst>
                <a:gd name="adj" fmla="val 14286"/>
              </a:avLst>
            </a:prstGeom>
            <a:solidFill>
              <a:srgbClr val="0F3340"/>
            </a:solidFill>
            <a:ln w="952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92861" y="3641725"/>
              <a:ext cx="7144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下一步</a:t>
              </a:r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　用更多电池、温度和老化数据检验 · 多次重复干扰实验 · 让修正结果更平滑</a:t>
              </a:r>
            </a:p>
          </p:txBody>
        </p:sp>
      </p:grpSp>
      <p:grpSp>
        <p:nvGrpSpPr>
          <p:cNvPr id="23" name="thanks"/>
          <p:cNvGrpSpPr/>
          <p:nvPr/>
        </p:nvGrpSpPr>
        <p:grpSpPr>
          <a:xfrm>
            <a:off x="520446" y="4845050"/>
            <a:ext cx="3115437" cy="498729"/>
            <a:chOff x="520446" y="4845050"/>
            <a:chExt cx="3115437" cy="498729"/>
          </a:xfrm>
        </p:grpSpPr>
        <p:sp>
          <p:nvSpPr>
            <p:cNvPr id="22" name="TextBox 22"/>
            <p:cNvSpPr txBox="1"/>
            <p:nvPr/>
          </p:nvSpPr>
          <p:spPr>
            <a:xfrm>
              <a:off x="520446" y="4845050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谢谢大家，欢迎提问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oc_beautify">
  <a:themeElements>
    <a:clrScheme name="soc_beautify">
      <a:dk1>
        <a:srgbClr val="E6EDF5"/>
      </a:dk1>
      <a:lt1>
        <a:srgbClr val="0B1622"/>
      </a:lt1>
      <a:dk2>
        <a:srgbClr val="1F497D"/>
      </a:dk2>
      <a:lt2>
        <a:srgbClr val="12263A"/>
      </a:lt2>
      <a:accent1>
        <a:srgbClr val="22D3EE"/>
      </a:accent1>
      <a:accent2>
        <a:srgbClr val="A3E635"/>
      </a:accent2>
      <a:accent3>
        <a:srgbClr val="A78BFA"/>
      </a:accent3>
      <a:accent4>
        <a:srgbClr val="22D3EE"/>
      </a:accent4>
      <a:accent5>
        <a:srgbClr val="93A4B8"/>
      </a:accent5>
      <a:accent6>
        <a:srgbClr val="24405A"/>
      </a:accent6>
      <a:hlink>
        <a:srgbClr val="A3E635"/>
      </a:hlink>
      <a:folHlink>
        <a:srgbClr val="A78BFA"/>
      </a:folHlink>
    </a:clrScheme>
    <a:fontScheme name="soc_beautify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c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soc_beautify">
  <a:themeElements>
    <a:clrScheme name="soc_beautify">
      <a:dk1>
        <a:srgbClr val="E6EDF5"/>
      </a:dk1>
      <a:lt1>
        <a:srgbClr val="0B1622"/>
      </a:lt1>
      <a:dk2>
        <a:srgbClr val="1F497D"/>
      </a:dk2>
      <a:lt2>
        <a:srgbClr val="12263A"/>
      </a:lt2>
      <a:accent1>
        <a:srgbClr val="22D3EE"/>
      </a:accent1>
      <a:accent2>
        <a:srgbClr val="A3E635"/>
      </a:accent2>
      <a:accent3>
        <a:srgbClr val="A78BFA"/>
      </a:accent3>
      <a:accent4>
        <a:srgbClr val="22D3EE"/>
      </a:accent4>
      <a:accent5>
        <a:srgbClr val="93A4B8"/>
      </a:accent5>
      <a:accent6>
        <a:srgbClr val="24405A"/>
      </a:accent6>
      <a:hlink>
        <a:srgbClr val="A3E635"/>
      </a:hlink>
      <a:folHlink>
        <a:srgbClr val="A78BFA"/>
      </a:folHlink>
    </a:clrScheme>
    <a:fontScheme name="soc_beautify">
      <a:maj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YaHei"/>
        <a:cs typeface="Segoe U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oc_beautif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2026-10-29T12:01:35Z</dcterms:created>
  <dcterms:modified xsi:type="dcterms:W3CDTF">2026-10-29T12:01:35Z</dcterms:modified>
  <cp:category/>
  <cp:contentStatus/>
</cp:coreProperties>
</file>