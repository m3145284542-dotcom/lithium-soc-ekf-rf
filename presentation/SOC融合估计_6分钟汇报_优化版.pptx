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C42"/>
                </a:solidFill>
                <a:latin typeface="Microsoft YaHei"/>
              </a:defRPr>
            </a:pPr>
            <a:r>
              <a:rPr sz="1400" b="0" i="0" u="none" strike="noStrike">
                <a:solidFill>
                  <a:srgbClr val="142C42"/>
                </a:solidFill>
                <a:latin typeface="Microsoft YaHei"/>
              </a:rPr>
              <a:t>特征重要性（不纯度，%）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重要性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C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电流</c:v>
                  </c:pt>
                  <c:pt idx="1">
                    <c:v>5秒电压变化</c:v>
                  </c:pt>
                  <c:pt idx="2">
                    <c:v>端电压</c:v>
                  </c:pt>
                  <c:pt idx="3">
                    <c:v>5秒电流均值</c:v>
                  </c:pt>
                  <c:pt idx="4">
                    <c:v>电压残差</c:v>
                  </c:pt>
                  <c:pt idx="5">
                    <c:v>表面温度</c:v>
                  </c:pt>
                  <c:pt idx="6">
                    <c:v>EKF SOC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0.19968423523037096</c:v>
                </c:pt>
                <c:pt idx="1">
                  <c:v>0.7080183215924326</c:v>
                </c:pt>
                <c:pt idx="2">
                  <c:v>1.5281803111524332</c:v>
                </c:pt>
                <c:pt idx="3">
                  <c:v>1.6254703697291257</c:v>
                </c:pt>
                <c:pt idx="4">
                  <c:v>1.7177198050132598</c:v>
                </c:pt>
                <c:pt idx="5">
                  <c:v>45.92235500139344</c:v>
                </c:pt>
                <c:pt idx="6">
                  <c:v>48.29857195588894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C42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C42"/>
                </a:solidFill>
                <a:latin typeface="Microsoft YaHei"/>
              </a:defRPr>
            </a:pPr>
            <a:r>
              <a:rPr sz="1400" b="0" i="0" u="none" strike="noStrike">
                <a:solidFill>
                  <a:srgbClr val="142C42"/>
                </a:solidFill>
                <a:latin typeface="Microsoft YaHei"/>
              </a:rPr>
              <a:t>逐记录 RMSE（SOC 百分点）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EKF</c:v>
                </c:pt>
              </c:strCache>
            </c:strRef>
          </c:tx>
          <c:spPr>
            <a:solidFill>
              <a:srgbClr val="8E7CC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C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Mixed7</c:v>
                  </c:pt>
                  <c:pt idx="1">
                    <c:v>Mixed8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2.231481969500281</c:v>
                </c:pt>
                <c:pt idx="1">
                  <c:v>2.0010101015388617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EKF + RF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C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Mixed7</c:v>
                  </c:pt>
                  <c:pt idx="1">
                    <c:v>Mixed8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1.0660393354989224</c:v>
                </c:pt>
                <c:pt idx="1">
                  <c:v>0.885770010519987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42C42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0"/>
        <c:axPos val="l"/>
        <c:majorGridlines>
          <c:spPr>
            <a:ln w="9525" cap="flat">
              <a:solidFill>
                <a:srgbClr val="E3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42C4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C42"/>
                </a:solidFill>
                <a:latin typeface="Microsoft YaHei"/>
              </a:defRPr>
            </a:pPr>
            <a:r>
              <a:rPr sz="1400" b="0" i="0" u="none" strike="noStrike">
                <a:solidFill>
                  <a:srgbClr val="142C42"/>
                </a:solidFill>
                <a:latin typeface="Microsoft YaHei"/>
              </a:rPr>
              <a:t>等记录平均 RMSE（SOC 百分点）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EKF</c:v>
                </c:pt>
              </c:strCache>
            </c:strRef>
          </c:tx>
          <c:spPr>
            <a:solidFill>
              <a:srgbClr val="8E7CC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C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</c:v>
                  </c:pt>
                  <c:pt idx="1">
                    <c:v>初始低估10pp</c:v>
                  </c:pt>
                  <c:pt idx="2">
                    <c:v>测量噪声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2.1162460355195716</c:v>
                </c:pt>
                <c:pt idx="1">
                  <c:v>2.1382495509994515</c:v>
                </c:pt>
                <c:pt idx="2">
                  <c:v>2.1114264441676793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常值偏置校正</c:v>
                </c:pt>
              </c:strCache>
            </c:strRef>
          </c:tx>
          <c:spPr>
            <a:solidFill>
              <a:srgbClr val="B8C2C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C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</c:v>
                  </c:pt>
                  <c:pt idx="1">
                    <c:v>初始低估10pp</c:v>
                  </c:pt>
                  <c:pt idx="2">
                    <c:v>测量噪声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1.1898201733264255</c:v>
                </c:pt>
                <c:pt idx="1">
                  <c:v>1.2048733840036197</c:v>
                </c:pt>
                <c:pt idx="2">
                  <c:v>1.1819072766088115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EKF + RF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C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</c:v>
                  </c:pt>
                  <c:pt idx="1">
                    <c:v>初始低估10pp</c:v>
                  </c:pt>
                  <c:pt idx="2">
                    <c:v>测量噪声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0.9759046730094547</c:v>
                </c:pt>
                <c:pt idx="1">
                  <c:v>0.9897261498761724</c:v>
                </c:pt>
                <c:pt idx="2">
                  <c:v>0.9616023808082186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42C42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0"/>
        <c:axPos val="l"/>
        <c:majorGridlines>
          <c:spPr>
            <a:ln w="9525" cap="flat">
              <a:solidFill>
                <a:srgbClr val="E3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42C4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建议用时：30秒
我们的项目研究动态负载下的电池剩余电量估计。电压会随着负载和极化变化，不能直接把某个瞬时电压等同于剩余电量。我们先用一阶RC模型和扩展卡尔曼滤波得到SOC，再让随机森林学习剩余误差。输入包括时间、电压、电流和表面温度，最终比较单独EKF与融合方法在留出记录上的表现。
来源：项目大纲与执行计划.md、README.md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
数据来自公开的LG HG2电池实测数据集，环境温度为25摄氏度。29个原始CSV提供容量、低倍率、HPPC脉冲、动态工况及前序充电信息。动态记录一共8条，前4条用于训练，接着2条用于验证选方案，最后2条只作最终测试。参考SOC由满电初始近似和仪器累计容量计算，主容量固定为2.72639安时。前序充电和静置记录支持初始满电假设，但这个SOC仍然是计算基准，有初值和容量误差。我们不把每条记录末端强行归零，也不随机打散相邻采样点。
来源：data/reference/数据准备报告.md、data/reference/reference_policy.json、data/dataset_manifest.json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建议用时：50秒
一阶RC模型用SOC和极化电压作为状态。SOC预测遵循安时积分，放电电流为正，时间间隔使用原始采样的真实间隔。极化电压按RC时间常数衰减，并受电流驱动。端电压由开路电压扣除欧姆压降和极化压降得到。EKF先用模型预测，再比较实测电压与预测电压，通过残差更新状态。低倍率放电用于近似OCV，HPPC的42个有效放电脉冲用于辨识电阻和时间常数。这里采用固定参数，尚未描述温度、SOC和充放电方向对参数的影响，所以模型仍可能留下系统误差。
来源：src/ekf.py、src/battery.py、outputs/model/建模报告.md、outputs/model/battery_parameters.json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建议用时：75秒
随机森林不直接替代整个电池模型，而是预测EKF还剩多少误差。训练标签等于参考SOC减EKF输出。输入一共7个特征，包括EKF的SOC、电压、电流、表面温度、校正前电压残差，以及过去5秒电流的样本均值和电压变化量。窗口只读取当前及过去的数据，跨数据间断时重新开始。参考SOC和累计容量只用于标签和评价，不作为推理特征。森林有120棵树，最大深度12，叶节点最少50个样本。我们只在4条训练记录上拟合，比较两组候选在2条验证记录上的平均RMSE，选好后固定模型，没有把验证集追加回训练。推理时把预测修正量加到EKF的SOC上，再限制在零到一之间。补偿不回灌EKF，因此改善最终输出并不等同于改变滤波器内部收敛过程。
来源：outputs/correction/training_config.json、src/correction.py、outputs/correction/补偿建模报告.md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建议用时：70秒
这页给出完全留出的Mixed7和Mixed8的正常测试结果。左图展示Mixed7的参考SOC、单独EKF和融合输出，右表给出两条记录各自的RMSE。Mixed7从2.231降到1.066个SOC百分点，Mixed8从2.001降到0.886。先分别计算每条记录的RMSE，再作等权平均，得到2.116降到0.976，相对降低53.89%。它不是把所有采样合并计算的RMSE。平均MAE也从1.770降到0.801。两种方法使用相同输入，全部有效采样从首个更新后输出开始计分，没有截去初始阶段。平均改善也有局部例外，正常组Mixed7的融合最大绝对误差仍约3.597个百分点。这里的误差都是相对于计算参考值，不能写成独立测量意义上的绝对精度。
来源：outputs/experiments/metrics.csv、outputs/experiments/summary.csv、outputs/experiments/实验报告.md、outputs/figures/experiments/normal_552_Mixed7_soc.png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建议用时：60秒
我们还做了两组独立干扰实验，一组把初始SOC由一改为零点九，另一组只给电压和电流加入标准差分别为0.01伏和0.05安的高斯噪声，二者不叠加。模型保持固定，两种方法共用相同扰动输入。两组平均RMSE仍改善，但初始偏差组在首个电压校正后的融合输出仍有约4个百分点误差，所以不能只报平均值，也不能宣称提高了EKF内部收敛速度。噪声只做了一次固定种子实现，目前无法据此判断多次随机重复下的稳定性。我们还补充了一个简单基线：只加训练集平均偏置1.591个百分点，正常测试RMSE就能降到1.190，说明大部分改善来自去偏；随机森林在此基础上再降约0.2个百分点，但局部最大误差比简单基线大。
来源：outputs/experiments/experiment_config.json、outputs/experiments/实验报告.md、outputs/experiments/summary.csv、outputs/baseline/summary.csv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建议用时：30秒
本项目完成了从公开数据、参考SOC、电池建模到误差补偿和留出测试的完整流程。当前实验支持随机森林降低平均误差，但证据范围限于同一电芯和两条留出记录。后续可以增加电芯和温度范围，并开展多次噪声重复实验。工作记录覆盖数据、建模、补偿、实验与汇报，实际成员贡献请以随附表中的真实核实记录为准。
来源：README.md、presentation/贡献记录与个人反思.md、outputs/experiments/实验报告.md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D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电气大数据与人工智能 · 课程项目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 SOC 融合估计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A9D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扩展卡尔曼滤波 + 随机森林误差补偿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研究问题：动态负载下，仅凭电压、电流、温度，如何可靠估计剩余电量？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40690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C4459"/>
          </a:solidFill>
          <a:ln w="12700">
            <a:solidFill>
              <a:srgbClr val="1C44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公开实测数据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697480" y="4288536"/>
            <a:ext cx="320040" cy="256032"/>
          </a:xfrm>
          <a:prstGeom prst="rightArrow">
            <a:avLst/>
          </a:prstGeom>
          <a:solidFill>
            <a:srgbClr val="A9DDE0"/>
          </a:solidFill>
          <a:ln w="12700">
            <a:solidFill>
              <a:srgbClr val="A9DD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63240" y="40690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C4459"/>
          </a:solidFill>
          <a:ln w="12700">
            <a:solidFill>
              <a:srgbClr val="1C44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6324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一阶RC + EKF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0" y="4288536"/>
            <a:ext cx="320040" cy="256032"/>
          </a:xfrm>
          <a:prstGeom prst="rightArrow">
            <a:avLst/>
          </a:prstGeom>
          <a:solidFill>
            <a:srgbClr val="A9DDE0"/>
          </a:solidFill>
          <a:ln w="12700">
            <a:solidFill>
              <a:srgbClr val="A9DD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94960" y="40690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C4459"/>
          </a:solidFill>
          <a:ln w="12700">
            <a:solidFill>
              <a:srgbClr val="1C4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9496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随机森林补偿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3794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E09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−53.89%</a:t>
            </a:r>
            <a:endParaRPr lang="en-US" sz="54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9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留出测试平均 RMSE 降低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小组成员：（待填写）        2026年10月29日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公开数据与参考 SOC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LG HG2 单节锂电池 · 25℃ · 8条动态工况按完整记录划分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83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335024" y="17830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35024" y="1783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21408" y="17830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21408" y="1783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07792" y="17830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07792" y="1783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Mixed4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42316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训练（4条）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94176" y="17830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94176" y="1783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17830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0560" y="1783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Mixed6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694176" y="242316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9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验证选方案（2条）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266944" y="17830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66944" y="1783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Mixed7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53328" y="178308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53328" y="1783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Mixed8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266944" y="242316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最终测试（2条）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301752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12724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SOC = 1 − 净放电量 / 2.72639 Ah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起点满电近似 + 仪器累计容量；主容量取 551_Cap_1C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566928" y="4233672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4160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满电依据  </a:t>
            </a:r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前序充电末端约4.2V / 48.5mA，并静置约61分钟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66928" y="4782312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8680" y="4709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防止泄漏  </a:t>
            </a:r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训练/验证/测试按整条记录划分，测试集不参与调参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6928" y="5330952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" y="5257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参考边界  </a:t>
            </a:r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参考值是计算基准，含初值与容量误差，非独立实测真值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035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Kollmeyer, Naguib, Skells. LG 18650HG2 Li-ion Battery Data, v2. DOI:10.17632/b5mj79w5w9.2, CC BY 4.0</a:t>
            </a:r>
            <a:endParaRPr lang="en-US" sz="1000" dirty="0"/>
          </a:p>
        </p:txBody>
      </p:sp>
      <p:pic>
        <p:nvPicPr>
          <p:cNvPr id="33" name="Image 0" descr="outputs/figures/Mixed1_inputs_re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188720"/>
            <a:ext cx="4187952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一阶 RC 模型与 EKF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状态预测（安时积分 + 极化衰减）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3736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C4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SOCₖ = SOCₖ₋₁ − Ī·Δt / (3600·Q)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2C4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Upₖ = a·Upₖ₋₁ + R₁(1 − a)·Ī，  a = e^(−Δt/τ)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观测方程（端电压）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661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C4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Vₖ = OCV(SOCₖ) − Iₖ·R₀ − Upₖ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 每个采样的循环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7548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754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模型预测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176272" y="4946904"/>
            <a:ext cx="256032" cy="256032"/>
          </a:xfrm>
          <a:prstGeom prst="rightArrow">
            <a:avLst/>
          </a:prstGeom>
          <a:solidFill>
            <a:srgbClr val="5B6B76"/>
          </a:solidFill>
          <a:ln w="12700">
            <a:solidFill>
              <a:srgbClr val="5B6B7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68880" y="47548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68880" y="4754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电压残差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096512" y="4946904"/>
            <a:ext cx="256032" cy="256032"/>
          </a:xfrm>
          <a:prstGeom prst="rightArrow">
            <a:avLst/>
          </a:prstGeom>
          <a:solidFill>
            <a:srgbClr val="5B6B76"/>
          </a:solidFill>
          <a:ln w="12700">
            <a:solidFill>
              <a:srgbClr val="5B6B7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89120" y="47548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89120" y="4754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卡尔曼增益修正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77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按真实采样间隔递推，不跨数据间断；初始 SOC=1、Up=0</a:t>
            </a:r>
            <a:endParaRPr lang="en-US" sz="1300" dirty="0"/>
          </a:p>
        </p:txBody>
      </p:sp>
      <p:pic>
        <p:nvPicPr>
          <p:cNvPr id="20" name="Image 0" descr="outputs/figures/model/ocv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34440"/>
            <a:ext cx="5120640" cy="2670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9224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近似 OCV：549_C20 低倍率放电带载电压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92240" y="43891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629400" y="4462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R₀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29400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17.907</a:t>
            </a:r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mΩ</a:t>
            </a:r>
            <a:endParaRPr lang="en-US" sz="2400" dirty="0"/>
          </a:p>
        </p:txBody>
      </p:sp>
      <p:sp>
        <p:nvSpPr>
          <p:cNvPr id="25" name="Shape 21"/>
          <p:cNvSpPr/>
          <p:nvPr/>
        </p:nvSpPr>
        <p:spPr>
          <a:xfrm>
            <a:off x="8275320" y="43891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412480" y="4462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R₁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412480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7.123</a:t>
            </a:r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mΩ</a:t>
            </a:r>
            <a:endParaRPr lang="en-US" sz="2400" dirty="0"/>
          </a:p>
        </p:txBody>
      </p:sp>
      <p:sp>
        <p:nvSpPr>
          <p:cNvPr id="28" name="Shape 24"/>
          <p:cNvSpPr/>
          <p:nvPr/>
        </p:nvSpPr>
        <p:spPr>
          <a:xfrm>
            <a:off x="10058400" y="43891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195560" y="4462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10195560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8.771</a:t>
            </a:r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</a:t>
            </a:r>
            <a:endParaRPr lang="en-US" sz="2400" dirty="0"/>
          </a:p>
        </p:txBody>
      </p:sp>
      <p:sp>
        <p:nvSpPr>
          <p:cNvPr id="31" name="Text 27"/>
          <p:cNvSpPr txBox="1"/>
          <p:nvPr/>
        </p:nvSpPr>
        <p:spPr>
          <a:xfrm>
            <a:off x="6492240" y="5577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42个有效HPPC放电脉冲参数中位数；未建模温度与方向影响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随机森林学习 EKF 的剩余误差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344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电压·电流·温度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487168" y="1636776"/>
            <a:ext cx="292608" cy="256032"/>
          </a:xfrm>
          <a:prstGeom prst="rightArrow">
            <a:avLst/>
          </a:prstGeom>
          <a:solidFill>
            <a:srgbClr val="5B6B76"/>
          </a:solidFill>
          <a:ln w="12700">
            <a:solidFill>
              <a:srgbClr val="5B6B7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16352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8E7CC3"/>
          </a:solidFill>
          <a:ln w="12700">
            <a:solidFill>
              <a:srgbClr val="8E7CC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62072" y="12344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+ 电压残差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54880" y="1636776"/>
            <a:ext cx="292608" cy="256032"/>
          </a:xfrm>
          <a:prstGeom prst="rightArrow">
            <a:avLst/>
          </a:prstGeom>
          <a:solidFill>
            <a:srgbClr val="5B6B76"/>
          </a:solidFill>
          <a:ln w="12700">
            <a:solidFill>
              <a:srgbClr val="5B6B7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84064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9784" y="12344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7个因果特征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只用当前与历史5秒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022592" y="1636776"/>
            <a:ext cx="292608" cy="256032"/>
          </a:xfrm>
          <a:prstGeom prst="rightArrow">
            <a:avLst/>
          </a:prstGeom>
          <a:solidFill>
            <a:srgbClr val="5B6B76"/>
          </a:solidFill>
          <a:ln w="12700">
            <a:solidFill>
              <a:srgbClr val="5B6B7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51776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97496" y="12344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预测修正量 ΔSOC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290304" y="1636776"/>
            <a:ext cx="292608" cy="256032"/>
          </a:xfrm>
          <a:prstGeom prst="rightArrow">
            <a:avLst/>
          </a:prstGeom>
          <a:solidFill>
            <a:srgbClr val="5B6B76"/>
          </a:solidFill>
          <a:ln w="12700">
            <a:solidFill>
              <a:srgbClr val="5B6B7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19488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65208" y="12344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 SOC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clip(EKF + ΔSOC, 0, 1)</a:t>
            </a:r>
            <a:endParaRPr lang="en-US" sz="16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2606040"/>
          <a:ext cx="58521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5"/>
          <p:cNvSpPr/>
          <p:nvPr/>
        </p:nvSpPr>
        <p:spPr>
          <a:xfrm>
            <a:off x="6766560" y="26060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995160" y="27432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训练标签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SOC − EKF SOC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995160" y="33649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120棵树，最大深度12，叶节点≥50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995160" y="398678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4条训练拟合 → 2条验证选方案 → 固定后测试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995160" y="460857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不使用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参考SOC、累计容量、未来采样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995160" y="52303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不回灌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修正量只作用于输出，不改EKF内部状态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温度与 EKF SOC 占主导：温度可能部分反映放电进程，跨温度泛化需另行验证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正常测试：平均 RMSE 降低 53.89%</a:t>
            </a:r>
            <a:endParaRPr lang="en-US" sz="3200" dirty="0"/>
          </a:p>
        </p:txBody>
      </p:sp>
      <p:pic>
        <p:nvPicPr>
          <p:cNvPr id="4" name="Image 0" descr="outputs/figures/experiments/normal_552_Mixed7_s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309360" cy="329184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7132320" y="1188720"/>
          <a:ext cx="4480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1"/>
          <p:cNvSpPr/>
          <p:nvPr/>
        </p:nvSpPr>
        <p:spPr>
          <a:xfrm>
            <a:off x="548640" y="48006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777240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2.116 → 0.976</a:t>
            </a:r>
            <a:endParaRPr lang="en-US" sz="3000" dirty="0"/>
          </a:p>
        </p:txBody>
      </p:sp>
      <p:sp>
        <p:nvSpPr>
          <p:cNvPr id="8" name="Text 3"/>
          <p:cNvSpPr txBox="1"/>
          <p:nvPr/>
        </p:nvSpPr>
        <p:spPr>
          <a:xfrm>
            <a:off x="777240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RMSE（pp），两条记录等权平均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4297680" y="48006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26280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1.770 → 0.801</a:t>
            </a:r>
            <a:endParaRPr lang="en-US" sz="3000" dirty="0"/>
          </a:p>
        </p:txBody>
      </p:sp>
      <p:sp>
        <p:nvSpPr>
          <p:cNvPr id="11" name="Text 6"/>
          <p:cNvSpPr txBox="1"/>
          <p:nvPr/>
        </p:nvSpPr>
        <p:spPr>
          <a:xfrm>
            <a:off x="4526280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MAE（pp）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046720" y="48006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75320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9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3.597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8275320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融合最大绝对误差（pp）：局部仍有误差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干扰实验与简单基线对比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0350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outputs/figures/experiments/initial_bias_552_Mixed7_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76656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Mixed7 初始 SOC=0.9 的误差曲线：融合输出有局部抖动。模型固定不重训，各方法共用同一扰动输入，两种扰动分别施加</a:t>
            </a:r>
            <a:endParaRPr lang="en-US" sz="1100" dirty="0"/>
          </a:p>
        </p:txBody>
      </p:sp>
      <p:sp>
        <p:nvSpPr>
          <p:cNvPr id="7" name="Shape 2"/>
          <p:cNvSpPr/>
          <p:nvPr/>
        </p:nvSpPr>
        <p:spPr>
          <a:xfrm>
            <a:off x="548640" y="47548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777240" y="4864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初始偏差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77240" y="5230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 53.71%；首个校正后融合仍约4pp误差，不能宣称加快EKF收敛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297680" y="47548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526280" y="4864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测量噪声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4526280" y="5230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 54.46%；电压0.01V、电流0.05A，仅一次固定种子实现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046720" y="47548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275320" y="4864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简单基线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275320" y="5230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训练集平均偏置 +1.59pp 已降 43.8%；RF 再降约 0.21pp，但最大误差更大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结论与展望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9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在两条留出记录上，随机森林补偿将 EKF 平均 SOC 误差降低约一半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219456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C4459"/>
          </a:solidFill>
          <a:ln w="12700">
            <a:solidFill>
              <a:srgbClr val="1C445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9D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9260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三组实验平均RMSE均降低 53.71%～54.46%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其中约81%来自去除EKF固定偏差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0" y="219456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C4459"/>
          </a:solidFill>
          <a:ln w="12700">
            <a:solidFill>
              <a:srgbClr val="1C445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9D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9260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同一电芯、25℃、两条留出工况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参考SOC为计算基准；局部误差仍可达约3.6～4.4pp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046720" y="219456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C4459"/>
          </a:solidFill>
          <a:ln w="12700">
            <a:solidFill>
              <a:srgbClr val="1C4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9D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9260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扩展电芯、温度与老化数据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多次噪声重复；抑制补偿输出的局部抖动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分工：数据与参考SOC · RC/EKF · 森林补偿 · 实验与汇报 —— 成员贡献见随附贡献记录表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锂电池 SOC 融合估计</dc:title>
  <dc:subject>PptxGenJS Presentation</dc:subject>
  <dc:creator>PptxGenJS</dc:creator>
  <cp:lastModifiedBy>PptxGenJS</cp:lastModifiedBy>
  <cp:revision>1</cp:revision>
  <dcterms:created xsi:type="dcterms:W3CDTF">2026-10-29T11:30:01Z</dcterms:created>
  <dcterms:modified xsi:type="dcterms:W3CDTF">2026-10-29T11:30:01Z</dcterms:modified>
</cp:coreProperties>
</file>