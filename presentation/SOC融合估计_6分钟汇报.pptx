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1354c2a37c4a12" /><Relationship Type="http://schemas.openxmlformats.org/officeDocument/2006/relationships/extended-properties" Target="/docProps/app.xml" Id="R686e327889724042" /><Relationship Type="http://schemas.openxmlformats.org/officeDocument/2006/relationships/officeDocument" Target="/ppt/presentation.xml" Id="R65837ce0ae024d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b9a04e809c4fcd"/>
  </p:sldMasterIdLst>
  <p:notesMasterIdLst>
    <p:notesMasterId xmlns:r="http://schemas.openxmlformats.org/officeDocument/2006/relationships" r:id="R0dba03006f0d4314"/>
  </p:notesMasterIdLst>
  <p:sldIdLst>
    <p:sldId xmlns:r="http://schemas.openxmlformats.org/officeDocument/2006/relationships" id="256" r:id="Rc2b919b9bffc4b9f"/>
    <p:sldId xmlns:r="http://schemas.openxmlformats.org/officeDocument/2006/relationships" id="257" r:id="R833e8ccc5d2646e5"/>
    <p:sldId xmlns:r="http://schemas.openxmlformats.org/officeDocument/2006/relationships" id="258" r:id="Rad073f4649344f6d"/>
    <p:sldId xmlns:r="http://schemas.openxmlformats.org/officeDocument/2006/relationships" id="259" r:id="Rfb1639d06aa74889"/>
    <p:sldId xmlns:r="http://schemas.openxmlformats.org/officeDocument/2006/relationships" id="260" r:id="Rbbc54a5f632d40e9"/>
    <p:sldId xmlns:r="http://schemas.openxmlformats.org/officeDocument/2006/relationships" id="261" r:id="R2bf89f77d8ad44af"/>
    <p:sldId xmlns:r="http://schemas.openxmlformats.org/officeDocument/2006/relationships" id="262" r:id="R75ee280bd49943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150999546b4d11" /><Relationship Type="http://schemas.openxmlformats.org/officeDocument/2006/relationships/slideMaster" Target="/ppt/slideMasters/slideMaster1.xml" Id="R9cb9a04e809c4fcd" /><Relationship Type="http://schemas.openxmlformats.org/officeDocument/2006/relationships/notesMaster" Target="/ppt/notesMasters/notesMaster1.xml" Id="R0dba03006f0d4314" /><Relationship Type="http://schemas.openxmlformats.org/officeDocument/2006/relationships/presProps" Target="/ppt/presProps.xml" Id="R884a3dcbd76f43b7" /><Relationship Type="http://schemas.openxmlformats.org/officeDocument/2006/relationships/tableStyles" Target="/ppt/tableStyles.xml" Id="Re7b1eac288a94481" /><Relationship Type="http://schemas.openxmlformats.org/officeDocument/2006/relationships/slide" Target="/ppt/slides/slide1.xml" Id="Rc2b919b9bffc4b9f" /><Relationship Type="http://schemas.openxmlformats.org/officeDocument/2006/relationships/slide" Target="/ppt/slides/slide2.xml" Id="R833e8ccc5d2646e5" /><Relationship Type="http://schemas.openxmlformats.org/officeDocument/2006/relationships/slide" Target="/ppt/slides/slide3.xml" Id="Rad073f4649344f6d" /><Relationship Type="http://schemas.openxmlformats.org/officeDocument/2006/relationships/slide" Target="/ppt/slides/slide4.xml" Id="Rfb1639d06aa74889" /><Relationship Type="http://schemas.openxmlformats.org/officeDocument/2006/relationships/slide" Target="/ppt/slides/slide5.xml" Id="Rbbc54a5f632d40e9" /><Relationship Type="http://schemas.openxmlformats.org/officeDocument/2006/relationships/slide" Target="/ppt/slides/slide6.xml" Id="R2bf89f77d8ad44af" /><Relationship Type="http://schemas.openxmlformats.org/officeDocument/2006/relationships/slide" Target="/ppt/slides/slide7.xml" Id="R75ee280bd49943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1359ca7a5441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f7895bd78844a2" /><Relationship Type="http://schemas.openxmlformats.org/officeDocument/2006/relationships/notesMaster" Target="/ppt/notesMasters/notesMaster1.xml" Id="R66be590bbabf40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9b37687e274a00" /><Relationship Type="http://schemas.openxmlformats.org/officeDocument/2006/relationships/notesMaster" Target="/ppt/notesMasters/notesMaster1.xml" Id="Ree182709628b4b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8f364334f04d86" /><Relationship Type="http://schemas.openxmlformats.org/officeDocument/2006/relationships/notesMaster" Target="/ppt/notesMasters/notesMaster1.xml" Id="Rc884cfedc24d41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c0e9c0465b4565" /><Relationship Type="http://schemas.openxmlformats.org/officeDocument/2006/relationships/notesMaster" Target="/ppt/notesMasters/notesMaster1.xml" Id="R33dd4bfca56b44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01b363fcb34fd5" /><Relationship Type="http://schemas.openxmlformats.org/officeDocument/2006/relationships/notesMaster" Target="/ppt/notesMasters/notesMaster1.xml" Id="R68eba2d176ab46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210d74dbb04ad2" /><Relationship Type="http://schemas.openxmlformats.org/officeDocument/2006/relationships/notesMaster" Target="/ppt/notesMasters/notesMaster1.xml" Id="Rb62e0f9c903949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2eed1397104146" /><Relationship Type="http://schemas.openxmlformats.org/officeDocument/2006/relationships/notesMaster" Target="/ppt/notesMasters/notesMaster1.xml" Id="Redae03d5f32a4f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的项目研究动态负载下的电池剩余电量估计。电压会随着负载和极化变化，不能直接把某个瞬时电压等同于剩余电量。我们先用一阶RC模型和扩展卡尔曼滤波得到SOC，再让随机森林学习剩余误差。输入包括时间、电压、电流和表面温度，最终比较单独EKF与融合方法在留出记录上的表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来源：项目大纲与执行计划.md；README.md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数据来自公开的LG HG2电池实测数据集，环境温度为25摄氏度。29个原始CSV提供容量、低倍率、HPPC脉冲、动态工况及前序充电信息。动态记录一共8条，前4条用于训练，接着2条用于验证选方案，最后2条只作最终测试。参考SOC由满电初始近似和仪器累计容量计算，主容量固定为2.72639安时。前序充电和静置记录支持初始满电假设，但这个SOC仍然是计算基准，有初值和容量误差。我们不把每条记录末端强行归零，也不随机打散相邻采样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来源：data/reference/数据准备报告.md；data/reference/reference_policy.json；data/dataset_manifest.json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阶RC模型用SOC和极化电压作为状态。SOC预测遵循安时积分，放电电流为正，时间间隔使用原始采样的真实间隔。极化电压按RC时间常数衰减，并受电流驱动。端电压由开路电压扣除欧姆压降和极化压降得到。EKF先用模型预测，再比较实测电压与预测电压，通过残差更新状态。低倍率放电用于近似OCV，HPPC的42个有效放电脉冲用于辨识电阻和时间常数。这里采用固定参数，尚未描述温度、SOC和充放电方向对参数的影响，所以模型仍可能留下系统误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来源：src/ekf.py；src/battery.py；outputs/model/建模报告.md；outputs/model/battery_parameters.json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建议用时：75秒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机森林不直接替代整个电池模型，而是预测EKF还剩多少误差。训练标签等于参考SOC减EKF输出。输入一共7个特征，包括EKF的SOC、电压、电流、表面温度、校正前电压残差，以及过去5秒电流的样本均值和电压变化量。窗口只读取当前及过去的数据，跨数据间断时重新开始。参考SOC和累计容量只用于标签和评价，不作为推理特征。森林有120棵树，最大深度12，叶节点最少50个样本。我们只在4条训练记录上拟合，比较两组候选在2条验证记录上的平均RMSE，选好后固定模型，没有把验证集追加回训练。推理时把预测修正量加到EKF的SOC上，再限制在零到一之间。补偿不回灌EKF，因此改善最终输出并不等同于改变滤波器内部收敛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来源：outputs/correction/training_config.json；src/correction.py；outputs/correction/补偿建模报告.md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建议用时：80秒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给出完全留出的Mixed7和Mixed8的正常测试结果。左图展示Mixed7的参考SOC、单独EKF和融合输出，右表给出两条记录各自的RMSE。Mixed7从2.231降到1.066个SOC百分点，Mixed8从2.001降到0.886。先分别计算每条记录的RMSE，再作等权平均，得到2.116降到0.976，相对降低53.89%。它不是把所有采样合并计算的RMSE。平均MAE也从1.770降到0.801。两种方法使用相同输入，全部有效采样从首个更新后输出开始计分，没有截去初始阶段。平均改善也有局部例外，正常组Mixed7的融合最大绝对误差仍约3.597个百分点。这里的误差都是相对于计算参考值，不能写成独立测量意义上的绝对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来源：outputs/experiments/metrics.csv；outputs/experiments/summary.csv；outputs/experiments/实验报告.md；outputs/figures/experiments/normal_552_Mixed7_soc.png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还做了两组独立干扰实验，一组把初始SOC由一改为零点九，另一组只给电压和电流加入标准差分别为0.01伏和0.05安的高斯噪声，二者不叠加。模型保持固定，两种方法共用相同扰动输入。两组平均RMSE仍改善，但初始偏差组在首个电压校正后的融合输出仍有约4个百分点误差，所以不能只报平均值，也不能宣称提高了EKF内部收敛速度。噪声只做了一次固定种子实现，目前无法据此判断多次随机重复下的稳定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来源：outputs/experiments/experiment_config.json；outputs/experiments/实验报告.md；outputs/experiments/summary.csv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项目完成了从公开数据、参考SOC、电池建模到误差补偿和留出测试的完整流程。当前实验支持随机森林降低平均误差，但证据范围限于同一电芯和两条留出记录。后续可以增加电芯和温度范围，并开展多次噪声重复实验。工作记录覆盖数据、建模、补偿、实验与汇报，实际成员贡献请以随附表中的真实核实记录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来源：README.md；presentation/贡献记录与个人反思.md；outputs/experiments/实验报告.md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bfbc7f908c40b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7a51985588483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046715ddf5452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34285827bb4b2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41c6e34874474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8fa4fc2c3e4f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101EEE-ABD6-4CE8-88A9-3BD5ADE8CF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7A2CC75-66BE-4978-AC83-2B07C7880E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222FF1A-6350-4F65-950D-FF75DD1B91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6FA0C3-0C3C-4DFE-A347-BF98472AFF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2A2EC54-B399-4195-BED3-F8097C4ECD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77CEC95-93EC-47C0-B39A-3ABC402F46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55D5B0-668D-4AC2-925F-FD0A58174B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AB245BF-72F6-44BD-9547-7963BCDEB6A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AD214A-4C66-42A6-B4E6-47EDB0D309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AA86B0-983D-4FB0-B4E5-718980CF9B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94f1f25ee14506" /><Relationship Type="http://schemas.openxmlformats.org/officeDocument/2006/relationships/slideLayout" Target="/ppt/slideLayouts/slideLayout1.xml" Id="R7273d4c1d14845d6" /><Relationship Type="http://schemas.openxmlformats.org/officeDocument/2006/relationships/slideLayout" Target="/ppt/slideLayouts/slideLayout2.xml" Id="R917f66f2db8a423e" /><Relationship Type="http://schemas.openxmlformats.org/officeDocument/2006/relationships/slideLayout" Target="/ppt/slideLayouts/slideLayout3.xml" Id="Rc477ec284343479d" /><Relationship Type="http://schemas.openxmlformats.org/officeDocument/2006/relationships/slideLayout" Target="/ppt/slideLayouts/slideLayout4.xml" Id="R0c960a2138b44183" /><Relationship Type="http://schemas.openxmlformats.org/officeDocument/2006/relationships/slideLayout" Target="/ppt/slideLayouts/slideLayout5.xml" Id="R76031ce3d7334079" /><Relationship Type="http://schemas.openxmlformats.org/officeDocument/2006/relationships/slideLayout" Target="/ppt/slideLayouts/slideLayout6.xml" Id="Re9af6aacf7fd46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73d4c1d14845d6"/>
    <p:sldLayoutId xmlns:r="http://schemas.openxmlformats.org/officeDocument/2006/relationships" id="2147483650" r:id="R917f66f2db8a423e"/>
    <p:sldLayoutId xmlns:r="http://schemas.openxmlformats.org/officeDocument/2006/relationships" id="2147483651" r:id="Rc477ec284343479d"/>
    <p:sldLayoutId xmlns:r="http://schemas.openxmlformats.org/officeDocument/2006/relationships" id="2147483652" r:id="R0c960a2138b44183"/>
    <p:sldLayoutId xmlns:r="http://schemas.openxmlformats.org/officeDocument/2006/relationships" id="2147483653" r:id="R76031ce3d7334079"/>
    <p:sldLayoutId xmlns:r="http://schemas.openxmlformats.org/officeDocument/2006/relationships" id="2147483654" r:id="Re9af6aacf7fd46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219f56cd2b46f1" /><Relationship Type="http://schemas.openxmlformats.org/officeDocument/2006/relationships/notesSlide" Target="/ppt/notesSlides/notesSlide1.xml" Id="Rdca31f4e35bf4d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f8c85c7aaf4669" /><Relationship Type="http://schemas.openxmlformats.org/officeDocument/2006/relationships/notesSlide" Target="/ppt/notesSlides/notesSlide2.xml" Id="R0a0b4455f67544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9bd1751daa4527" /><Relationship Type="http://schemas.openxmlformats.org/officeDocument/2006/relationships/notesSlide" Target="/ppt/notesSlides/notesSlide3.xml" Id="Rebfe1542b94841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bd70ecadd54396" /><Relationship Type="http://schemas.openxmlformats.org/officeDocument/2006/relationships/notesSlide" Target="/ppt/notesSlides/notesSlide4.xml" Id="R9ea4674a7e794c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8ebc65e93b40d6" /><Relationship Type="http://schemas.openxmlformats.org/officeDocument/2006/relationships/image" Target="/ppt/media/image.png" Id="R36451afbcd27464e" /><Relationship Type="http://schemas.openxmlformats.org/officeDocument/2006/relationships/notesSlide" Target="/ppt/notesSlides/notesSlide5.xml" Id="Ra22824130cb446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df4a60f5914043" /><Relationship Type="http://schemas.openxmlformats.org/officeDocument/2006/relationships/image" Target="/ppt/media/image2.png" Id="Rde7afda26019479e" /><Relationship Type="http://schemas.openxmlformats.org/officeDocument/2006/relationships/notesSlide" Target="/ppt/notesSlides/notesSlide6.xml" Id="R4a749d28d75c4d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525b4dbf4f4abc" /><Relationship Type="http://schemas.openxmlformats.org/officeDocument/2006/relationships/notesSlide" Target="/ppt/notesSlides/notesSlide7.xml" Id="R195452b8b6e449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EC567-D7E0-473B-8CD1-4B21890D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rPr>
              <a:t>锂电池 SOC 融合估计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A8EE1-FF30-44E5-AAD3-0FB74212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A498E-03DC-41DC-AE39-D4E78FFD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rPr>
              <a:t>扩展卡尔曼滤波与随机森林误差补偿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6150C-2222-4214-B5C4-248541D0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rPr>
              <a:t>研究问题：动态负载下，如何估计电池剩余电量？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EDFC2-65BE-4909-9831-6A6B5383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rPr>
              <a:t>输入：时间、电压、电流、表面温度</a:t>
            </a:r>
          </a:p>
          <a:p xmlns:a="http://schemas.openxmlformats.org/drawingml/2006/main">
            <a: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rPr>
              <a:t>输出：每个采样时刻的 SOC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FB663-E54B-414F-9F34-5C853F43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rPr>
              <a:t>电气大数据与人工智能 · 课程测试项目</a:t>
            </a:r>
          </a:p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rPr>
              <a:t>2026年10月29日</a:t>
            </a:r>
          </a:p>
        </p:txBody>
      </p:sp>
    </p:spTree>
    <p:extLst>
      <p:ext uri="{BB962C8B-B14F-4D97-AF65-F5344CB8AC3E}">
        <p14:creationId xmlns:p14="http://schemas.microsoft.com/office/powerpoint/2010/main" val="14065063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A82DE-02C5-44AC-9317-A961D425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rPr>
              <a:t>公开数据与参考 SOC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3535B-6DF3-4C64-8675-1CD66193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FFFEC-7AE4-4523-BB3B-59926306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rPr>
              <a:t>LG HG2 单节锂电池，25℃环境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9F0EF-5242-4F35-905C-7083D3B88482}"/>
              </a:ext>
            </a:extLst>
          </p:cNvPr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60960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905250"/>
              </a:tblGrid>
              <a:tr h="59531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8"/>
                      </a:solidFill>
                      <a:prstDash val="solid"/>
                    </a:lnL>
                    <a:lnR w="9525">
                      <a:solidFill>
                        <a:srgbClr val="D8E2E8"/>
                      </a:solidFill>
                      <a:prstDash val="solid"/>
                    </a:lnR>
                    <a:lnT w="9525">
                      <a:solidFill>
                        <a:srgbClr val="D8E2E8"/>
                      </a:solidFill>
                      <a:prstDash val="solid"/>
                    </a:lnT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E7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8"/>
                      </a:solidFill>
                      <a:prstDash val="solid"/>
                    </a:lnR>
                    <a:lnT w="9525">
                      <a:solidFill>
                        <a:srgbClr val="D8E2E8"/>
                      </a:solidFill>
                      <a:prstDash val="solid"/>
                    </a:lnT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E7F1F3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8"/>
                      </a:solidFill>
                      <a:prstDash val="solid"/>
                    </a:lnL>
                    <a:lnR w="9525">
                      <a:solidFill>
                        <a:srgbClr val="D8E2E8"/>
                      </a:solidFill>
                      <a:prstDash val="solid"/>
                    </a:lnR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Mixed1–4，共4条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8"/>
                      </a:solidFill>
                      <a:prstDash val="solid"/>
                    </a:lnR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验证选方案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8"/>
                      </a:solidFill>
                      <a:prstDash val="solid"/>
                    </a:lnL>
                    <a:lnR w="9525">
                      <a:solidFill>
                        <a:srgbClr val="D8E2E8"/>
                      </a:solidFill>
                      <a:prstDash val="solid"/>
                    </a:lnR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Mixed5–6，共2条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8"/>
                      </a:solidFill>
                      <a:prstDash val="solid"/>
                    </a:lnR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最终测试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8"/>
                      </a:solidFill>
                      <a:prstDash val="solid"/>
                    </a:lnL>
                    <a:lnR w="9525">
                      <a:solidFill>
                        <a:srgbClr val="D8E2E8"/>
                      </a:solidFill>
                      <a:prstDash val="solid"/>
                    </a:lnR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Mixed7–8，共2条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8"/>
                      </a:solidFill>
                      <a:prstDash val="solid"/>
                    </a:lnR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0A267-FF5E-4411-8FCA-58EA30DD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rPr>
              <a:t>参考 SOC = 1 − 净放电量 / 2.72639Ah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5FC3B-24BA-42A7-B899-E959C318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19325"/>
            <a:ext cx="4381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rPr>
              <a:t>满电初值近似 + 仪器累计容量</a:t>
            </a:r>
          </a:p>
          <a:p xmlns:a="http://schemas.openxmlformats.org/drawingml/2006/main">
            <a:pPr>
              <a:defRPr sz="19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rPr>
              <a:t>参考值存在假设误差</a:t>
            </a:r>
          </a:p>
          <a:p xmlns:a="http://schemas.openxmlformats.org/drawingml/2006/main">
            <a:pPr>
              <a:defRPr sz="19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rPr>
              <a:t>并非独立实测真值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C635D6-9C7A-40D3-A80D-86FB4CF2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3860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rPr>
              <a:t>按完整记录划分</a:t>
            </a:r>
          </a:p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rPr>
              <a:t>相邻采样点不随机拆分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9FA87-771F-40AC-8FA1-58412E26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rPr>
              <a:t>Kollmeyer、Naguib、Skells，LG 18650HG2 Li-ion Battery Data，v2</a:t>
            </a:r>
          </a:p>
          <a:p xmlns:a="http://schemas.openxmlformats.org/drawingml/2006/main">
            <a: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rPr>
              <a:t>DOI:10.17632/b5mj79w5w9.2，CC BY 4.0</a:t>
            </a:r>
          </a:p>
        </p:txBody>
      </p:sp>
    </p:spTree>
    <p:extLst>
      <p:ext uri="{BB962C8B-B14F-4D97-AF65-F5344CB8AC3E}">
        <p14:creationId xmlns:p14="http://schemas.microsoft.com/office/powerpoint/2010/main" val="16204452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7AD9E-92DD-4BC5-839F-708BCBF8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rPr>
              <a:t>一阶 RC 模型与 EKF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3F9B2-332D-4D15-B31C-7FF85959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CA113-6EA3-4B3B-BAF0-D4D2C1FA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rPr>
              <a:t>状态：SOC 与极化电压 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2DDBA-C41E-4587-8112-734A74CC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rPr>
              <a:t>SOC预测</a:t>
            </a:r>
          </a:p>
          <a:p xmlns:a="http://schemas.openxmlformats.org/drawingml/2006/main">
            <a: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rPr>
              <a:t>SOCₖ = SOCₖ₋₁ − I均值Δt / (3600Q)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0B110-C98F-4496-B556-BA8415D8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rPr>
              <a:t>端电压模型</a:t>
            </a:r>
          </a:p>
          <a:p xmlns:a="http://schemas.openxmlformats.org/drawingml/2006/main">
            <a:pPr>
              <a:def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rPr>
              <a:t>Vₖ = OCV(SOCₖ) − IₖR₀ − Upₖ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EDABD-117C-4A31-81C7-A0F8AC84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rPr>
              <a:t>电流积分预测电量，用端电压残差校正状态</a:t>
            </a:r>
          </a:p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rPr>
              <a:t>相邻电流均值用于积分，按实际采样间隔更新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CC3D5-22F0-473E-91ED-B74F815F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47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rPr>
              <a:t>R₀ = 17.907mΩ    R₁ = 7.123mΩ    τ = 8.771s</a:t>
            </a:r>
          </a:p>
          <a:p xmlns:a="http://schemas.openxmlformats.org/drawingml/2006/main">
            <a:pPr>
              <a:defRPr sz="150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rPr>
              <a:t>参数来自42个有效HPPC放电脉冲的中位数，OCV由低倍率带载电压近似</a:t>
            </a:r>
          </a:p>
        </p:txBody>
      </p:sp>
    </p:spTree>
    <p:extLst>
      <p:ext uri="{BB962C8B-B14F-4D97-AF65-F5344CB8AC3E}">
        <p14:creationId xmlns:p14="http://schemas.microsoft.com/office/powerpoint/2010/main" val="17188581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7FB71-2FF3-45F7-91BF-E9B64BC7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rPr>
              <a:t>随机森林学习 EKF 的剩余误差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CCFA9-3267-4C33-B0D6-8723FD48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81FE5-DBD6-4881-A292-FDE6444E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rPr>
              <a:t>训练标签：参考 SOC − EKF SOC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9A018-0540-4801-8910-59C222A4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rPr>
              <a:t>7个输入特征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0573D-08F0-43A2-A21D-2D1BFB64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rPr>
              <a:t>EKF SOC、端电压、电流、表面温度</a:t>
            </a:r>
          </a:p>
          <a:p xmlns:a="http://schemas.openxmlformats.org/drawingml/2006/main">
            <a: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rPr>
              <a:t>校正前电压残差</a:t>
            </a:r>
          </a:p>
          <a:p xmlns:a="http://schemas.openxmlformats.org/drawingml/2006/main">
            <a: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rPr>
              <a:t>过去5秒电流均值、窗口电压变化量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72FB7-65FA-4228-9A5D-3B87C342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rPr>
              <a:t>融合 SOC = clip(EKF SOC + 预测修正量, 0, 1)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FE0FE-C256-493E-8F8C-F14F9BEF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858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rPr>
              <a:t>只用当前与历史采样，不输入参考SOC或累计容量</a:t>
            </a:r>
          </a:p>
          <a:p xmlns:a="http://schemas.openxmlformats.org/drawingml/2006/main">
            <a:pPr>
              <a:defRPr sz="18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rPr>
              <a:t>修正量只作用于最终输出，不回灌EKF内部状态</a:t>
            </a:r>
          </a:p>
        </p:txBody>
      </p:sp>
    </p:spTree>
    <p:extLst>
      <p:ext uri="{BB962C8B-B14F-4D97-AF65-F5344CB8AC3E}">
        <p14:creationId xmlns:p14="http://schemas.microsoft.com/office/powerpoint/2010/main" val="4547694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390D8C-7CA9-4328-B569-6AD666B4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rPr>
              <a:t>正常测试平均 RMSE 降低 53.89%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F5DE3-75AC-4BE6-B15A-2622AD39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A95A5-6A08-4417-B755-F911166B53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51afbcd27464e"/>
          <a:stretch xmlns:a="http://schemas.openxmlformats.org/drawingml/2006/main"/>
        </p:blipFill>
        <p:spPr>
          <a:xfrm xmlns:a="http://schemas.openxmlformats.org/drawingml/2006/main">
            <a:off x="569569" y="1485900"/>
            <a:ext cx="6671361" cy="34766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76890-5D0E-4EBE-89B7-CCC3749B9EDC}"/>
              </a:ext>
            </a:extLst>
          </p:cNvPr>
          <p:cNvGraphicFramePr/>
          <p:nvPr/>
        </p:nvGraphicFramePr>
        <p:xfrm>
          <a:off xmlns:a="http://schemas.openxmlformats.org/drawingml/2006/main" x="7620000" y="2038350"/>
          <a:ext xmlns:a="http://schemas.openxmlformats.org/drawingml/2006/main" cx="3962400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266825"/>
                <a:gridCol w="1266825"/>
              </a:tblGrid>
              <a:tr h="650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8"/>
                      </a:solidFill>
                      <a:prstDash val="solid"/>
                    </a:lnL>
                    <a:lnR w="9525">
                      <a:solidFill>
                        <a:srgbClr val="D8E2E8"/>
                      </a:solidFill>
                      <a:prstDash val="solid"/>
                    </a:lnR>
                    <a:lnT w="9525">
                      <a:solidFill>
                        <a:srgbClr val="D8E2E8"/>
                      </a:solidFill>
                      <a:prstDash val="solid"/>
                    </a:lnT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E7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EKF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8"/>
                      </a:solidFill>
                      <a:prstDash val="solid"/>
                    </a:lnR>
                    <a:lnT w="9525">
                      <a:solidFill>
                        <a:srgbClr val="D8E2E8"/>
                      </a:solidFill>
                      <a:prstDash val="solid"/>
                    </a:lnT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E7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融合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8"/>
                      </a:solidFill>
                      <a:prstDash val="solid"/>
                    </a:lnR>
                    <a:lnT w="9525">
                      <a:solidFill>
                        <a:srgbClr val="D8E2E8"/>
                      </a:solidFill>
                      <a:prstDash val="solid"/>
                    </a:lnT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E7F1F3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Mixed7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8"/>
                      </a:solidFill>
                      <a:prstDash val="solid"/>
                    </a:lnL>
                    <a:lnR w="9525">
                      <a:solidFill>
                        <a:srgbClr val="D8E2E8"/>
                      </a:solidFill>
                      <a:prstDash val="solid"/>
                    </a:lnR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2.231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8"/>
                      </a:solidFill>
                      <a:prstDash val="solid"/>
                    </a:lnR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1.066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8"/>
                      </a:solidFill>
                      <a:prstDash val="solid"/>
                    </a:lnR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Mixed8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8"/>
                      </a:solidFill>
                      <a:prstDash val="solid"/>
                    </a:lnL>
                    <a:lnR w="9525">
                      <a:solidFill>
                        <a:srgbClr val="D8E2E8"/>
                      </a:solidFill>
                      <a:prstDash val="solid"/>
                    </a:lnR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8"/>
                      </a:solidFill>
                      <a:prstDash val="solid"/>
                    </a:lnR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0.886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8"/>
                      </a:solidFill>
                      <a:prstDash val="solid"/>
                    </a:lnR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58C94-8117-4292-B3F9-D0537786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719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rPr>
              <a:t>RMSE，单位：SOC百分点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9183A-63A8-4291-8558-081268E6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rPr>
              <a:t>2.116  →  0.976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6C8A0-776B-460A-A393-3A2E127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47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rPr>
              <a:t>先按记录计算RMSE，再对两条记录等权平均</a:t>
            </a:r>
          </a:p>
          <a:p xmlns:a="http://schemas.openxmlformats.org/drawingml/2006/main">
            <a:pPr>
              <a:defRPr sz="15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rPr>
              <a:t>平均MAE：1.770降至0.801个SOC百分点</a:t>
            </a:r>
          </a:p>
        </p:txBody>
      </p:sp>
    </p:spTree>
    <p:extLst>
      <p:ext uri="{BB962C8B-B14F-4D97-AF65-F5344CB8AC3E}">
        <p14:creationId xmlns:p14="http://schemas.microsoft.com/office/powerpoint/2010/main" val="1689067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149D9D-6B2F-4ADB-A743-3ACCAC6F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rPr>
              <a:t>初始偏差与噪声下的误差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C499E-9D88-4A6C-887D-C2F6562D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5BE09-B669-4025-ADEA-3F97EFCE23A3}"/>
              </a:ext>
            </a:extLst>
          </p:cNvPr>
          <p:cNvGraphicFramePr/>
          <p:nvPr/>
        </p:nvGraphicFramePr>
        <p:xfrm>
          <a:off xmlns:a="http://schemas.openxmlformats.org/drawingml/2006/main" x="609600" y="1390650"/>
          <a:ext xmlns:a="http://schemas.openxmlformats.org/drawingml/2006/main" cx="10972800" cy="1981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667000"/>
                <a:gridCol w="2667000"/>
                <a:gridCol w="2209800"/>
              </a:tblGrid>
              <a:tr h="4953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8"/>
                      </a:solidFill>
                      <a:prstDash val="solid"/>
                    </a:lnL>
                    <a:lnR w="9525">
                      <a:solidFill>
                        <a:srgbClr val="D8E2E8"/>
                      </a:solidFill>
                      <a:prstDash val="solid"/>
                    </a:lnR>
                    <a:lnT w="9525">
                      <a:solidFill>
                        <a:srgbClr val="D8E2E8"/>
                      </a:solidFill>
                      <a:prstDash val="solid"/>
                    </a:lnT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E7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EKF平均RMSE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8"/>
                      </a:solidFill>
                      <a:prstDash val="solid"/>
                    </a:lnR>
                    <a:lnT w="9525">
                      <a:solidFill>
                        <a:srgbClr val="D8E2E8"/>
                      </a:solidFill>
                      <a:prstDash val="solid"/>
                    </a:lnT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E7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融合平均RMSE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8"/>
                      </a:solidFill>
                      <a:prstDash val="solid"/>
                    </a:lnR>
                    <a:lnT w="9525">
                      <a:solidFill>
                        <a:srgbClr val="D8E2E8"/>
                      </a:solidFill>
                      <a:prstDash val="solid"/>
                    </a:lnT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E7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相对降低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8"/>
                      </a:solidFill>
                      <a:prstDash val="solid"/>
                    </a:lnR>
                    <a:lnT w="9525">
                      <a:solidFill>
                        <a:srgbClr val="D8E2E8"/>
                      </a:solidFill>
                      <a:prstDash val="solid"/>
                    </a:lnT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E7F1F3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8"/>
                      </a:solidFill>
                      <a:prstDash val="solid"/>
                    </a:lnL>
                    <a:lnR w="9525">
                      <a:solidFill>
                        <a:srgbClr val="D8E2E8"/>
                      </a:solidFill>
                      <a:prstDash val="solid"/>
                    </a:lnR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2.116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8"/>
                      </a:solidFill>
                      <a:prstDash val="solid"/>
                    </a:lnR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0.976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8"/>
                      </a:solidFill>
                      <a:prstDash val="solid"/>
                    </a:lnR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53.89%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8"/>
                      </a:solidFill>
                      <a:prstDash val="solid"/>
                    </a:lnR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初始低估10百分点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8"/>
                      </a:solidFill>
                      <a:prstDash val="solid"/>
                    </a:lnL>
                    <a:lnR w="9525">
                      <a:solidFill>
                        <a:srgbClr val="D8E2E8"/>
                      </a:solidFill>
                      <a:prstDash val="solid"/>
                    </a:lnR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2.138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8"/>
                      </a:solidFill>
                      <a:prstDash val="solid"/>
                    </a:lnR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8"/>
                      </a:solidFill>
                      <a:prstDash val="solid"/>
                    </a:lnR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53.71%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8"/>
                      </a:solidFill>
                      <a:prstDash val="solid"/>
                    </a:lnR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测量噪声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2E8"/>
                      </a:solidFill>
                      <a:prstDash val="solid"/>
                    </a:lnL>
                    <a:lnR w="9525">
                      <a:solidFill>
                        <a:srgbClr val="D8E2E8"/>
                      </a:solidFill>
                      <a:prstDash val="solid"/>
                    </a:lnR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2.111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8"/>
                      </a:solidFill>
                      <a:prstDash val="solid"/>
                    </a:lnR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0.962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8"/>
                      </a:solidFill>
                      <a:prstDash val="solid"/>
                    </a:lnR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54.46%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2E8"/>
                      </a:solidFill>
                      <a:prstDash val="solid"/>
                    </a:lnR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8EF22-EB0D-4924-8F27-DBC423EFE2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7afda26019479e"/>
          <a:stretch xmlns:a="http://schemas.openxmlformats.org/drawingml/2006/main"/>
        </p:blipFill>
        <p:spPr>
          <a:xfrm xmlns:a="http://schemas.openxmlformats.org/drawingml/2006/main">
            <a:off x="1633151" y="3714750"/>
            <a:ext cx="4715647" cy="24574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04599-FB7E-4056-9815-062BFC81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57625"/>
            <a:ext cx="3733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rPr>
              <a:t>初始偏差组首点仍约4百分点误差</a:t>
            </a:r>
          </a:p>
          <a:p xmlns:a="http://schemas.openxmlformats.org/drawingml/2006/main">
            <a:pPr>
              <a:defRPr sz="187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rPr>
              <a:t>融合只修正输出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BA461-CAC8-4A1C-808B-003B17A5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000625"/>
            <a:ext cx="37338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rPr>
              <a:t>噪声标准差</a:t>
            </a:r>
          </a:p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rPr>
              <a:t>电压0.01V，电流0.05A</a:t>
            </a:r>
          </a:p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rPr>
              <a:t>单次固定随机实现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96332-BECB-413E-AED6-EBD5BAA8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rPr>
              <a:t>单位：SOC百分点。初始偏差与加噪分别施加，两种方法共用同一组输入。</a:t>
            </a:r>
          </a:p>
        </p:txBody>
      </p:sp>
    </p:spTree>
    <p:extLst>
      <p:ext uri="{BB962C8B-B14F-4D97-AF65-F5344CB8AC3E}">
        <p14:creationId xmlns:p14="http://schemas.microsoft.com/office/powerpoint/2010/main" val="4473638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9A6150-2BEA-46F8-8CBF-D98FE38B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rPr>
              <a:t>结论与工作记录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B05B5-08D0-436B-AB52-3363F766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574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259776-BCA5-4ADC-8AB5-DF42134C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66D80"/>
                </a:solidFill>
                <a:latin typeface="Microsoft YaHei"/>
                <a:ea typeface="Microsoft YaHei"/>
                <a:cs typeface="Microsoft YaHei"/>
              </a:rPr>
              <a:t>当前测试中，随机森林补偿降低了平均SOC误差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4F346-1DA7-4A0A-8481-32C59015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rPr>
              <a:t>结论范围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AA81B-4850-4550-B73A-159D9A93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rPr>
              <a:t>同一电芯、25℃环境、两条留出混合工况</a:t>
            </a:r>
          </a:p>
          <a:p xmlns:a="http://schemas.openxmlformats.org/drawingml/2006/main">
            <a:pPr>
              <a:def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rPr>
              <a:t>参考SOC依赖满电与容量假设，局部仍有较大误差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C0D3D-8E1B-4EC0-98E4-1FD23328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rPr>
              <a:t>工作记录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C253A-11DA-4B25-8035-BE8E00B6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rPr>
              <a:t>数据与参考SOC、RC/EKF、森林补偿、实验与汇报</a:t>
            </a:r>
          </a:p>
          <a:p xmlns:a="http://schemas.openxmlformats.org/drawingml/2006/main">
            <a:pPr>
              <a:def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42"/>
                </a:solidFill>
                <a:latin typeface="Microsoft YaHei"/>
                <a:ea typeface="Microsoft YaHei"/>
                <a:cs typeface="Microsoft YaHei"/>
              </a:rPr>
              <a:t>个人贡献以实际核实记录为准，见随附成员填写表</a:t>
            </a:r>
          </a:p>
        </p:txBody>
      </p:sp>
    </p:spTree>
    <p:extLst>
      <p:ext uri="{BB962C8B-B14F-4D97-AF65-F5344CB8AC3E}">
        <p14:creationId xmlns:p14="http://schemas.microsoft.com/office/powerpoint/2010/main" val="16176455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2026-10-29T01:14:45.4140000Z</dcterms:created>
  <dcterms:modified xsi:type="dcterms:W3CDTF">2026-10-29T01:14:45.4140000Z</dcterms:modified>
</coreProperties>
</file>